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1.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6" r:id="rId17"/>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  <Relationship Id="rId17" Type="http://schemas.openxmlformats.org/officeDocument/2006/relationships/slide" Target="slides/slide11.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North America</c:v>
                </c:pt>
              </c:strCache>
            </c:strRef>
          </c:tx>
          <c:spPr>
            <a:solidFill>
              <a:srgbClr val="D98E04"/>
            </a:solidFill>
            <a:ln w="38100" cap="flat">
              <a:solidFill>
                <a:srgbClr val="D98E0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8E04"/>
              </a:solidFill>
              <a:ln w="9525" cap="flat">
                <a:solidFill>
                  <a:srgbClr val="D98E04"/>
                </a:solidFill>
                <a:prstDash val="solid"/>
                <a:round/>
              </a:ln>
              <a:effectLst/>
            </c:spPr>
          </c:marker>
          <c:cat>
            <c:multiLvlStrRef>
              <c:f>Sheet1!$A$2:$A$17</c:f>
              <c:multiLvlStrCache>
                <c:ptCount val="16"/>
                <c:lvl>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lvl>
              </c:multiLvlStrCache>
            </c:multiLvlStrRef>
          </c:cat>
          <c:val>
            <c:numRef>
              <c:f>Sheet1!$B$2:$B$17</c:f>
              <c:numCache>
                <c:formatCode>General</c:formatCode>
                <c:ptCount val="16"/>
                <c:pt idx="0">
                  <c:v>16.18</c:v>
                </c:pt>
                <c:pt idx="1">
                  <c:v>18.02</c:v>
                </c:pt>
                <c:pt idx="2">
                  <c:v>20.07</c:v>
                </c:pt>
                <c:pt idx="3">
                  <c:v>21.39</c:v>
                </c:pt>
                <c:pt idx="4">
                  <c:v>23.48</c:v>
                </c:pt>
                <c:pt idx="5">
                  <c:v>24.92</c:v>
                </c:pt>
                <c:pt idx="6">
                  <c:v>26.21</c:v>
                </c:pt>
                <c:pt idx="7">
                  <c:v>26.9</c:v>
                </c:pt>
                <c:pt idx="8">
                  <c:v>28.39</c:v>
                </c:pt>
                <c:pt idx="9">
                  <c:v>29.41</c:v>
                </c:pt>
                <c:pt idx="10">
                  <c:v>11.11</c:v>
                </c:pt>
                <c:pt idx="11">
                  <c:v>18.32</c:v>
                </c:pt>
                <c:pt idx="12">
                  <c:v>31.83</c:v>
                </c:pt>
                <c:pt idx="13">
                  <c:v>35.08</c:v>
                </c:pt>
                <c:pt idx="14">
                  <c:v>36.17</c:v>
                </c:pt>
                <c:pt idx="15">
                  <c:v>38.27</c:v>
                </c:pt>
              </c:numCache>
            </c:numRef>
          </c:val>
          <c:smooth val="0"/>
        </c:ser>
        <c:ser>
          <c:idx val="1"/>
          <c:order val="1"/>
          <c:tx>
            <c:strRef>
              <c:f>Sheet1!$C$1</c:f>
              <c:strCache>
                <c:ptCount val="1"/>
                <c:pt idx="0">
                  <c:v>Europe</c:v>
                </c:pt>
              </c:strCache>
            </c:strRef>
          </c:tx>
          <c:spPr>
            <a:solidFill>
              <a:srgbClr val="3B5BA5"/>
            </a:solidFill>
            <a:ln w="38100" cap="flat">
              <a:solidFill>
                <a:srgbClr val="3B5BA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B5BA5"/>
              </a:solidFill>
              <a:ln w="9525" cap="flat">
                <a:solidFill>
                  <a:srgbClr val="3B5BA5"/>
                </a:solidFill>
                <a:prstDash val="solid"/>
                <a:round/>
              </a:ln>
              <a:effectLst/>
            </c:spPr>
          </c:marker>
          <c:cat>
            <c:multiLvlStrRef>
              <c:f>Sheet1!$A$2:$A$17</c:f>
              <c:multiLvlStrCache>
                <c:ptCount val="16"/>
                <c:lvl>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lvl>
              </c:multiLvlStrCache>
            </c:multiLvlStrRef>
          </c:cat>
          <c:val>
            <c:numRef>
              <c:f>Sheet1!$C$2:$C$17</c:f>
              <c:numCache>
                <c:formatCode>General</c:formatCode>
                <c:ptCount val="16"/>
                <c:pt idx="0">
                  <c:v>13.38</c:v>
                </c:pt>
                <c:pt idx="1">
                  <c:v>14.3</c:v>
                </c:pt>
                <c:pt idx="2">
                  <c:v>15.14</c:v>
                </c:pt>
                <c:pt idx="3">
                  <c:v>15.74</c:v>
                </c:pt>
                <c:pt idx="4">
                  <c:v>16.56</c:v>
                </c:pt>
                <c:pt idx="5">
                  <c:v>16.95</c:v>
                </c:pt>
                <c:pt idx="6">
                  <c:v>18.66</c:v>
                </c:pt>
                <c:pt idx="7">
                  <c:v>19.04</c:v>
                </c:pt>
                <c:pt idx="8">
                  <c:v>20.39</c:v>
                </c:pt>
                <c:pt idx="9">
                  <c:v>19.66</c:v>
                </c:pt>
                <c:pt idx="10">
                  <c:v>7.55</c:v>
                </c:pt>
                <c:pt idx="11">
                  <c:v>9.8</c:v>
                </c:pt>
                <c:pt idx="12">
                  <c:v>18.84</c:v>
                </c:pt>
                <c:pt idx="13">
                  <c:v>21.89</c:v>
                </c:pt>
                <c:pt idx="14">
                  <c:v>22.9</c:v>
                </c:pt>
                <c:pt idx="15">
                  <c:v>24.91</c:v>
                </c:pt>
              </c:numCache>
            </c:numRef>
          </c:val>
          <c:smooth val="0"/>
        </c:ser>
        <c:ser>
          <c:idx val="2"/>
          <c:order val="2"/>
          <c:tx>
            <c:strRef>
              <c:f>Sheet1!$D$1</c:f>
              <c:strCache>
                <c:ptCount val="1"/>
                <c:pt idx="0">
                  <c:v>Asia</c:v>
                </c:pt>
              </c:strCache>
            </c:strRef>
          </c:tx>
          <c:spPr>
            <a:solidFill>
              <a:srgbClr val="8FA3D4"/>
            </a:solidFill>
            <a:ln w="38100" cap="flat">
              <a:solidFill>
                <a:srgbClr val="8FA3D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FA3D4"/>
              </a:solidFill>
              <a:ln w="9525" cap="flat">
                <a:solidFill>
                  <a:srgbClr val="8FA3D4"/>
                </a:solidFill>
                <a:prstDash val="solid"/>
                <a:round/>
              </a:ln>
              <a:effectLst/>
            </c:spPr>
          </c:marker>
          <c:cat>
            <c:multiLvlStrRef>
              <c:f>Sheet1!$A$2:$A$17</c:f>
              <c:multiLvlStrCache>
                <c:ptCount val="16"/>
                <c:lvl>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lvl>
              </c:multiLvlStrCache>
            </c:multiLvlStrRef>
          </c:cat>
          <c:val>
            <c:numRef>
              <c:f>Sheet1!$D$2:$D$17</c:f>
              <c:numCache>
                <c:formatCode>General</c:formatCode>
                <c:ptCount val="16"/>
                <c:pt idx="0">
                  <c:v>9.45</c:v>
                </c:pt>
                <c:pt idx="1">
                  <c:v>9.79</c:v>
                </c:pt>
                <c:pt idx="2">
                  <c:v>10.11</c:v>
                </c:pt>
                <c:pt idx="3">
                  <c:v>10.6</c:v>
                </c:pt>
                <c:pt idx="4">
                  <c:v>11.12</c:v>
                </c:pt>
                <c:pt idx="5">
                  <c:v>11.53</c:v>
                </c:pt>
                <c:pt idx="6">
                  <c:v>12.23</c:v>
                </c:pt>
                <c:pt idx="7">
                  <c:v>12.77</c:v>
                </c:pt>
                <c:pt idx="8">
                  <c:v>13.48</c:v>
                </c:pt>
                <c:pt idx="9">
                  <c:v>13.81</c:v>
                </c:pt>
                <c:pt idx="10">
                  <c:v>5.86</c:v>
                </c:pt>
                <c:pt idx="11">
                  <c:v>6.88</c:v>
                </c:pt>
                <c:pt idx="12">
                  <c:v>8.83</c:v>
                </c:pt>
                <c:pt idx="13">
                  <c:v>13.93</c:v>
                </c:pt>
                <c:pt idx="14">
                  <c:v>14.91</c:v>
                </c:pt>
                <c:pt idx="15">
                  <c:v>16.29</c:v>
                </c:pt>
              </c:numCache>
            </c:numRef>
          </c:val>
          <c:smooth val="0"/>
        </c:ser>
        <c:ser>
          <c:idx val="3"/>
          <c:order val="3"/>
          <c:tx>
            <c:strRef>
              <c:f>Sheet1!$E$1</c:f>
              <c:strCache>
                <c:ptCount val="1"/>
                <c:pt idx="0">
                  <c:v>Middle East</c:v>
                </c:pt>
              </c:strCache>
            </c:strRef>
          </c:tx>
          <c:spPr>
            <a:solidFill>
              <a:srgbClr val="B9C6E4"/>
            </a:solidFill>
            <a:ln w="38100" cap="flat">
              <a:solidFill>
                <a:srgbClr val="B9C6E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C6E4"/>
              </a:solidFill>
              <a:ln w="9525" cap="flat">
                <a:solidFill>
                  <a:srgbClr val="B9C6E4"/>
                </a:solidFill>
                <a:prstDash val="solid"/>
                <a:round/>
              </a:ln>
              <a:effectLst/>
            </c:spPr>
          </c:marker>
          <c:cat>
            <c:multiLvlStrRef>
              <c:f>Sheet1!$A$2:$A$17</c:f>
              <c:multiLvlStrCache>
                <c:ptCount val="16"/>
                <c:lvl>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lvl>
              </c:multiLvlStrCache>
            </c:multiLvlStrRef>
          </c:cat>
          <c:val>
            <c:numRef>
              <c:f>Sheet1!$E$2:$E$17</c:f>
              <c:numCache>
                <c:formatCode>General</c:formatCode>
                <c:ptCount val="16"/>
                <c:pt idx="0">
                  <c:v>6.93</c:v>
                </c:pt>
                <c:pt idx="1">
                  <c:v>8</c:v>
                </c:pt>
                <c:pt idx="2">
                  <c:v>9.06</c:v>
                </c:pt>
                <c:pt idx="3">
                  <c:v>10.05</c:v>
                </c:pt>
                <c:pt idx="4">
                  <c:v>10.99</c:v>
                </c:pt>
                <c:pt idx="5">
                  <c:v>12.36</c:v>
                </c:pt>
                <c:pt idx="6">
                  <c:v>12.38</c:v>
                </c:pt>
                <c:pt idx="7">
                  <c:v>12.61</c:v>
                </c:pt>
                <c:pt idx="8">
                  <c:v>12.23</c:v>
                </c:pt>
                <c:pt idx="9">
                  <c:v>13.29</c:v>
                </c:pt>
                <c:pt idx="10">
                  <c:v>5.25</c:v>
                </c:pt>
                <c:pt idx="11">
                  <c:v>8.67</c:v>
                </c:pt>
                <c:pt idx="12">
                  <c:v>13.15</c:v>
                </c:pt>
                <c:pt idx="13">
                  <c:v>13.27</c:v>
                </c:pt>
                <c:pt idx="14">
                  <c:v>13.78</c:v>
                </c:pt>
                <c:pt idx="15">
                  <c:v>15.13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DF0F5"/>
              </a:solidFill>
              <a:prstDash val="solid"/>
              <a:round/>
            </a:ln>
          </c:spPr>
        </c:majorGridlines>
        <c:title>
          <c:tx>
            <c:rich>
              <a:bodyPr/>
              <a:lstStyle/>
              <a:p>
                <a:pPr>
                  <a:defRPr sz="1300" b="0" i="0" u="none" strike="noStrike">
                    <a:solidFill>
                      <a:srgbClr val="000000"/>
                    </a:solidFill>
                    <a:latin typeface="Arial"/>
                  </a:defRPr>
                </a:pPr>
                <a:r>
                  <a:rPr sz="1300" b="0" i="0" u="none" strike="noStrike">
                    <a:solidFill>
                      <a:srgbClr val="000000"/>
                    </a:solidFill>
                    <a:latin typeface="Arial"/>
                  </a:rPr>
                  <a:t>Avg. Revenue (USD Bn)</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Legacy (avg)</c:v>
                </c:pt>
              </c:strCache>
            </c:strRef>
          </c:tx>
          <c:spPr>
            <a:solidFill>
              <a:srgbClr val="1E2761"/>
            </a:solidFill>
            <a:ln w="44450" cap="flat">
              <a:solidFill>
                <a:srgbClr val="1E276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E2761"/>
              </a:solidFill>
              <a:ln w="9525" cap="flat">
                <a:solidFill>
                  <a:srgbClr val="1E2761"/>
                </a:solidFill>
                <a:prstDash val="solid"/>
                <a:round/>
              </a:ln>
              <a:effectLst/>
            </c:spPr>
          </c:marker>
          <c:cat>
            <c:multiLvlStrRef>
              <c:f>Sheet1!$A$2:$A$17</c:f>
              <c:multiLvlStrCache>
                <c:ptCount val="16"/>
                <c:lvl>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lvl>
              </c:multiLvlStrCache>
            </c:multiLvlStrRef>
          </c:cat>
          <c:val>
            <c:numRef>
              <c:f>Sheet1!$B$2:$B$17</c:f>
              <c:numCache>
                <c:formatCode>General</c:formatCode>
                <c:ptCount val="16"/>
                <c:pt idx="0">
                  <c:v>25.9</c:v>
                </c:pt>
                <c:pt idx="1">
                  <c:v>28.7</c:v>
                </c:pt>
                <c:pt idx="2">
                  <c:v>32.12</c:v>
                </c:pt>
                <c:pt idx="3">
                  <c:v>33.43</c:v>
                </c:pt>
                <c:pt idx="4">
                  <c:v>37.27</c:v>
                </c:pt>
                <c:pt idx="5">
                  <c:v>39.37</c:v>
                </c:pt>
                <c:pt idx="6">
                  <c:v>40.9</c:v>
                </c:pt>
                <c:pt idx="7">
                  <c:v>42.15</c:v>
                </c:pt>
                <c:pt idx="8">
                  <c:v>44.16</c:v>
                </c:pt>
                <c:pt idx="9">
                  <c:v>45.39</c:v>
                </c:pt>
                <c:pt idx="10">
                  <c:v>16.99</c:v>
                </c:pt>
                <c:pt idx="11">
                  <c:v>27.3</c:v>
                </c:pt>
                <c:pt idx="12">
                  <c:v>49.12</c:v>
                </c:pt>
                <c:pt idx="13">
                  <c:v>55.06</c:v>
                </c:pt>
                <c:pt idx="14">
                  <c:v>56.74</c:v>
                </c:pt>
                <c:pt idx="15">
                  <c:v>59.59</c:v>
                </c:pt>
              </c:numCache>
            </c:numRef>
          </c:val>
          <c:smooth val="0"/>
        </c:ser>
        <c:ser>
          <c:idx val="1"/>
          <c:order val="1"/>
          <c:tx>
            <c:strRef>
              <c:f>Sheet1!$C$1</c:f>
              <c:strCache>
                <c:ptCount val="1"/>
                <c:pt idx="0">
                  <c:v>Low-cost (avg)</c:v>
                </c:pt>
              </c:strCache>
            </c:strRef>
          </c:tx>
          <c:spPr>
            <a:solidFill>
              <a:srgbClr val="D98E04"/>
            </a:solidFill>
            <a:ln w="44450" cap="flat">
              <a:solidFill>
                <a:srgbClr val="D98E0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98E04"/>
              </a:solidFill>
              <a:ln w="9525" cap="flat">
                <a:solidFill>
                  <a:srgbClr val="D98E04"/>
                </a:solidFill>
                <a:prstDash val="solid"/>
                <a:round/>
              </a:ln>
              <a:effectLst/>
            </c:spPr>
          </c:marker>
          <c:cat>
            <c:multiLvlStrRef>
              <c:f>Sheet1!$A$2:$A$17</c:f>
              <c:multiLvlStrCache>
                <c:ptCount val="16"/>
                <c:lvl>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lvl>
              </c:multiLvlStrCache>
            </c:multiLvlStrRef>
          </c:cat>
          <c:val>
            <c:numRef>
              <c:f>Sheet1!$C$2:$C$17</c:f>
              <c:numCache>
                <c:formatCode>General</c:formatCode>
                <c:ptCount val="16"/>
                <c:pt idx="0">
                  <c:v>6.46</c:v>
                </c:pt>
                <c:pt idx="1">
                  <c:v>7.33</c:v>
                </c:pt>
                <c:pt idx="2">
                  <c:v>8.03</c:v>
                </c:pt>
                <c:pt idx="3">
                  <c:v>9.36</c:v>
                </c:pt>
                <c:pt idx="4">
                  <c:v>9.68</c:v>
                </c:pt>
                <c:pt idx="5">
                  <c:v>10.48</c:v>
                </c:pt>
                <c:pt idx="6">
                  <c:v>11.53</c:v>
                </c:pt>
                <c:pt idx="7">
                  <c:v>11.65</c:v>
                </c:pt>
                <c:pt idx="8">
                  <c:v>12.62</c:v>
                </c:pt>
                <c:pt idx="9">
                  <c:v>13.43</c:v>
                </c:pt>
                <c:pt idx="10">
                  <c:v>5.23</c:v>
                </c:pt>
                <c:pt idx="11">
                  <c:v>9.34</c:v>
                </c:pt>
                <c:pt idx="12">
                  <c:v>14.53</c:v>
                </c:pt>
                <c:pt idx="13">
                  <c:v>15.09</c:v>
                </c:pt>
                <c:pt idx="14">
                  <c:v>15.6</c:v>
                </c:pt>
                <c:pt idx="15">
                  <c:v>16.95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DF0F5"/>
              </a:solidFill>
              <a:prstDash val="solid"/>
              <a:round/>
            </a:ln>
          </c:spPr>
        </c:majorGridlines>
        <c:title>
          <c:tx>
            <c:rich>
              <a:bodyPr/>
              <a:lstStyle/>
              <a:p>
                <a:pPr>
                  <a:defRPr sz="1300" b="0" i="0" u="none" strike="noStrike">
                    <a:solidFill>
                      <a:srgbClr val="000000"/>
                    </a:solidFill>
                    <a:latin typeface="Arial"/>
                  </a:defRPr>
                </a:pPr>
                <a:r>
                  <a:rPr sz="1300" b="0" i="0" u="none" strike="noStrike">
                    <a:solidFill>
                      <a:srgbClr val="000000"/>
                    </a:solidFill>
                    <a:latin typeface="Arial"/>
                  </a:rPr>
                  <a:t>Avg. Revenue (USD Bn)</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Annual Revenue</c:v>
                </c:pt>
              </c:strCache>
            </c:strRef>
          </c:tx>
          <c:spPr>
            <a:solidFill>
              <a:srgbClr val="D98E04"/>
            </a:solidFill>
            <a:effectLst/>
          </c:spPr>
          <c:invertIfNegative val="0"/>
          <c:dLbls>
            <c:numFmt formatCode="&quot;$&quot;#,##0&quot;M&quot;" sourceLinked="0"/>
            <c:txPr>
              <a:bodyPr/>
              <a:lstStyle/>
              <a:p>
                <a:pPr>
                  <a:defRPr b="0" i="0" strike="noStrike" sz="1200" u="none">
                    <a:solidFill>
                      <a:srgbClr val="4A5568"/>
                    </a:solidFill>
                    <a:latin typeface="Arial"/>
                  </a:defRPr>
                </a:pPr>
              </a:p>
            </c:txPr>
            <c:showLegendKey val="0"/>
            <c:showVal val="1"/>
            <c:showCatName val="0"/>
            <c:showSerName val="0"/>
            <c:showPercent val="0"/>
            <c:showBubbleSize val="0"/>
            <c:showLeaderLines val="0"/>
          </c:dLbls>
          <c:dPt>
            <c:idx val="0"/>
            <c:invertIfNegative val="0"/>
            <c:bubble3D val="0"/>
            <c:spPr>
              <a:solidFill>
                <a:srgbClr val="D98E04"/>
              </a:solidFill>
              <a:effectLst/>
            </c:spPr>
          </c:dPt>
          <c:dPt>
            <c:idx val="1"/>
            <c:invertIfNegative val="0"/>
            <c:bubble3D val="0"/>
            <c:spPr>
              <a:solidFill>
                <a:srgbClr val="D98E04"/>
              </a:solidFill>
              <a:effectLst/>
            </c:spPr>
          </c:dPt>
          <c:dPt>
            <c:idx val="2"/>
            <c:invertIfNegative val="0"/>
            <c:bubble3D val="0"/>
            <c:spPr>
              <a:solidFill>
                <a:srgbClr val="D98E04"/>
              </a:solidFill>
              <a:effectLst/>
            </c:spPr>
          </c:dPt>
          <c:dPt>
            <c:idx val="3"/>
            <c:invertIfNegative val="0"/>
            <c:bubble3D val="0"/>
            <c:spPr>
              <a:solidFill>
                <a:srgbClr val="D98E04"/>
              </a:solidFill>
              <a:effectLst/>
            </c:spPr>
          </c:dPt>
          <c:dPt>
            <c:idx val="4"/>
            <c:invertIfNegative val="0"/>
            <c:bubble3D val="0"/>
            <c:spPr>
              <a:solidFill>
                <a:srgbClr val="D98E04"/>
              </a:solidFill>
              <a:effectLst/>
            </c:spPr>
          </c:dPt>
          <c:dPt>
            <c:idx val="5"/>
            <c:invertIfNegative val="0"/>
            <c:bubble3D val="0"/>
            <c:spPr>
              <a:solidFill>
                <a:srgbClr val="3B5BA5"/>
              </a:solidFill>
              <a:effectLst/>
            </c:spPr>
          </c:dPt>
          <c:dPt>
            <c:idx val="6"/>
            <c:invertIfNegative val="0"/>
            <c:bubble3D val="0"/>
            <c:spPr>
              <a:solidFill>
                <a:srgbClr val="D98E04"/>
              </a:solidFill>
              <a:effectLst/>
            </c:spPr>
          </c:dPt>
          <c:dPt>
            <c:idx val="7"/>
            <c:invertIfNegative val="0"/>
            <c:bubble3D val="0"/>
            <c:spPr>
              <a:solidFill>
                <a:srgbClr val="3B5BA5"/>
              </a:solidFill>
              <a:effectLst/>
            </c:spPr>
          </c:dPt>
          <c:dPt>
            <c:idx val="8"/>
            <c:invertIfNegative val="0"/>
            <c:bubble3D val="0"/>
            <c:spPr>
              <a:solidFill>
                <a:srgbClr val="3B5BA5"/>
              </a:solidFill>
              <a:effectLst/>
            </c:spPr>
          </c:dPt>
          <c:dPt>
            <c:idx val="9"/>
            <c:invertIfNegative val="0"/>
            <c:bubble3D val="0"/>
            <c:spPr>
              <a:solidFill>
                <a:srgbClr val="3B5BA5"/>
              </a:solidFill>
              <a:effectLst/>
            </c:spPr>
          </c:dPt>
          <c:dPt>
            <c:idx val="10"/>
            <c:invertIfNegative val="0"/>
            <c:bubble3D val="0"/>
            <c:spPr>
              <a:solidFill>
                <a:srgbClr val="3B5BA5"/>
              </a:solidFill>
              <a:effectLst/>
            </c:spPr>
          </c:dPt>
          <c:dPt>
            <c:idx val="11"/>
            <c:invertIfNegative val="0"/>
            <c:bubble3D val="0"/>
            <c:spPr>
              <a:solidFill>
                <a:srgbClr val="D98E04"/>
              </a:solidFill>
              <a:effectLst/>
            </c:spPr>
          </c:dPt>
          <c:cat>
            <c:multiLvlStrRef>
              <c:f>Sheet1!$A$2:$A$13</c:f>
              <c:multiLvlStrCache>
                <c:ptCount val="12"/>
                <c:lvl>
                  <c:pt idx="0">
                    <c:v>Hong Kong-San Francisco</c:v>
                  </c:pt>
                  <c:pt idx="1">
                    <c:v>Tokyo-Honolulu</c:v>
                  </c:pt>
                  <c:pt idx="2">
                    <c:v>Seoul-Los Angeles</c:v>
                  </c:pt>
                  <c:pt idx="3">
                    <c:v>Frankfurt-New York</c:v>
                  </c:pt>
                  <c:pt idx="4">
                    <c:v>Los Angeles-Sydney</c:v>
                  </c:pt>
                  <c:pt idx="5">
                    <c:v>Atlanta-Los Angeles</c:v>
                  </c:pt>
                  <c:pt idx="6">
                    <c:v>Madrid-Buenos Aires</c:v>
                  </c:pt>
                  <c:pt idx="7">
                    <c:v>Chicago-New York</c:v>
                  </c:pt>
                  <c:pt idx="8">
                    <c:v>Toronto-Vancouver</c:v>
                  </c:pt>
                  <c:pt idx="9">
                    <c:v>New York-Los Angeles</c:v>
                  </c:pt>
                  <c:pt idx="10">
                    <c:v>New York-Miami</c:v>
                  </c:pt>
                  <c:pt idx="11">
                    <c:v>London-New York</c:v>
                  </c:pt>
                </c:lvl>
              </c:multiLvlStrCache>
            </c:multiLvlStrRef>
          </c:cat>
          <c:val>
            <c:numRef>
              <c:f>Sheet1!$B$2:$B$13</c:f>
              <c:numCache>
                <c:formatCode>General</c:formatCode>
                <c:ptCount val="12"/>
                <c:pt idx="0">
                  <c:v>1174.3</c:v>
                </c:pt>
                <c:pt idx="1">
                  <c:v>1026</c:v>
                </c:pt>
                <c:pt idx="2">
                  <c:v>1022.4</c:v>
                </c:pt>
                <c:pt idx="3">
                  <c:v>904.8</c:v>
                </c:pt>
                <c:pt idx="4">
                  <c:v>811.2</c:v>
                </c:pt>
                <c:pt idx="5">
                  <c:v>768.6</c:v>
                </c:pt>
                <c:pt idx="6">
                  <c:v>767.5</c:v>
                </c:pt>
                <c:pt idx="7">
                  <c:v>719.5</c:v>
                </c:pt>
                <c:pt idx="8">
                  <c:v>639.2</c:v>
                </c:pt>
                <c:pt idx="9">
                  <c:v>637.7</c:v>
                </c:pt>
                <c:pt idx="10">
                  <c:v>528.1</c:v>
                </c:pt>
                <c:pt idx="11">
                  <c:v>453.3</c:v>
                </c:pt>
              </c:numCache>
            </c:numRef>
          </c:val>
        </c:ser>
        <c:dLbls>
          <c:numFmt formatCode="&quot;$&quot;#,##0&quot;M&quot;" sourceLinked="0"/>
          <c:txPr>
            <a:bodyPr/>
            <a:lstStyle/>
            <a:p>
              <a:pPr>
                <a:defRPr b="0" i="0" strike="noStrike" sz="1200" u="none">
                  <a:solidFill>
                    <a:srgbClr val="4A556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DF0F5"/>
              </a:solidFill>
              <a:prstDash val="solid"/>
              <a:round/>
            </a:ln>
          </c:spPr>
        </c:majorGridlines>
        <c:numFmt formatCode="&quot;$&quot;#,##0" sourceLinked="0"/>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Zoltan Wilhelm, and this is 'The Route to Profit' — an aviation investment analysis. The whole presentation answers one question: which airline and which region is the most investment-worthy? Everything that follows is evidence building toward that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question of the whole project: which airline and region is the most investment-worthy? I break it into five pieces of evidence — where the money is, what kind of carrier performs best, how fast the market recovers from a shock, which routes carry the revenue, and finally whether the real return comes from volume or from margin. Each of the next five slides answers one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comes from Kaggle but is anchored in genuinely real sources — SEC filings, Boeing and Airbus reports, IATA and ICAO statistics. Two cleaning decisions I made and will defend: I dropped 2026 because it is an incomplete year and would distort every trend, and I excluded Latin America because it had only two airlines — too thin to produce a fair regional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North America is the amber line — it leads every single year. But size alone is not an investment case, so I checked two more measures. Margin: North America averages 8.1 percent, ahead of Europe at 7.3, Asia at 7.1, Middle East at 6.3. Growth: North America compounds at 5.9 percent a year, again the highest. So it is the biggest, the most profitable, and the fastest growing — three independent proofs pointing the same direction. That is why the rest of the analysis focuses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lines: the average legacy carrier in navy, the average low-cost carrier in amber. Note I classified Alaska as low-cost rather than legacy — by size and operating profile it belongs there. Legacy carriers average about 60 billion dollars against 17 billion for low-cost — a 3.5 times revenue lead. But here is the twist that matters for an investor: on operating margin, low-cost carriers average 10.4 percent against legacy's 5.7 percent — nearly double the profitability per dollar of revenue. So scale and efficiency point in opposite directions. Hold that tension, because the final recommendation resolves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timing question. Reading down the table: 2019 was the pre-COVID peak at 29.4 billion. 2020 collapsed 62.2 percent to just 11.1 billion. Then 2021 rebounded 64.9 percent, and 2022 was the breakout — up 73.7 percent, the single largest annual gain in the whole dataset, and the year the market passed its pre-COVID peak. After that it normalises to 3 to 6 percent a year. The investment point: recovery from even a catastrophic shock took about two years. That is a fast recovery, and it means the downside risk of holding aviation assets through a crisis is time-limited rather than permanent.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Routes ranked by 2025 revenue, in dollars. Amber bars are international, blue are domestic. The top three — Hong Kong to San Francisco, Tokyo to Honolulu, Seoul to Los Angeles — are all trans-Pacific and each earns over a billion dollars a year. Domestic routes sit in the middle. So if you are chasing total revenue, the answer looks like international. But the next slide complicates that, and it is the most important slide in the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For every airline measured, domestic routes earn 33 to 45 percent more revenue per kilometre than international routes. Combine that with the previous slide: international routes bring in the most total revenue, but domestic routes are far more efficient per unit flown. That is the central trade-off of the whole analysis — volume versus margin. One honest caveat I will flag before anyone asks: I am using fare-per-kilometre as an efficiency proxy, because the dataset contains no route-level cost data. It is directional, not a true profit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 the recommendation. Region first: North America, proven on size, margin and growth. Then three airlines, each for a different reason. Delta is the core holding: 64.7 billion in revenue, the largest and steadiest of the majors — this is the safe position. Southwest is the margin play: 11.7 percent operating margin, the best in the group, and achieved at real scale rather than as a small niche operator. Alaska is the growth play: compounding at 8.1 percent a year, the fastest in North America, and it rebounded quickest from COVID at 71 percent of baseline by 2021. The overall call: hold Delta for scale, Southwest for margin, weight toward domestic routes for efficiency — and remember from slide three that a downturn is roughly a two-year window, which makes a crash a buying opportunity rather than a permanent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 I am happy to take questions on the data, the method, or the recommendation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 Id="rId3" Type="http://schemas.openxmlformats.org/officeDocument/2006/relationships/image" Target="../media/image1.png"/>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3" Type="http://schemas.openxmlformats.org/officeDocument/2006/relationships/image" Target="../media/image2.png"/>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7863840" y="-2011680"/>
            <a:ext cx="7772400" cy="7772400"/>
          </a:xfrm>
          <a:prstGeom prst="ellipse">
            <a:avLst/>
          </a:prstGeom>
          <a:solidFill>
            <a:srgbClr val="141B45"/>
          </a:solidFill>
          <a:ln/>
        </p:spPr>
      </p:sp>
      <p:sp>
        <p:nvSpPr>
          <p:cNvPr id="3" name="Shape 1"/>
          <p:cNvSpPr/>
          <p:nvPr/>
        </p:nvSpPr>
        <p:spPr>
          <a:xfrm>
            <a:off x="731520" y="2057400"/>
            <a:ext cx="100584" cy="1783080"/>
          </a:xfrm>
          <a:prstGeom prst="rect">
            <a:avLst/>
          </a:prstGeom>
          <a:solidFill>
            <a:srgbClr val="D98E04"/>
          </a:solidFill>
          <a:ln/>
        </p:spPr>
      </p:sp>
      <p:sp>
        <p:nvSpPr>
          <p:cNvPr id="4" name="Text 2"/>
          <p:cNvSpPr/>
          <p:nvPr/>
        </p:nvSpPr>
        <p:spPr>
          <a:xfrm>
            <a:off x="1051560" y="1554480"/>
            <a:ext cx="8229600" cy="320040"/>
          </a:xfrm>
          <a:prstGeom prst="rect">
            <a:avLst/>
          </a:prstGeom>
          <a:noFill/>
          <a:ln/>
        </p:spPr>
        <p:txBody>
          <a:bodyPr wrap="square" rtlCol="0" anchor="ctr"/>
          <a:lstStyle/>
          <a:p>
            <a:pPr indent="0" marL="0">
              <a:buNone/>
            </a:pPr>
            <a:r>
              <a:rPr lang="en-US" sz="1250" b="1" spc="100" kern="0" dirty="0">
                <a:solidFill>
                  <a:srgbClr val="D98E04"/>
                </a:solidFill>
                <a:latin typeface="Calibri" pitchFamily="34" charset="0"/>
                <a:ea typeface="Calibri" pitchFamily="34" charset="-122"/>
                <a:cs typeface="Calibri" pitchFamily="34" charset="-120"/>
              </a:rPr>
              <a:t>D A T A   R E S E A R C H   A N A L Y S T   ·   F I N A L   P R O J E C T</a:t>
            </a:r>
            <a:endParaRPr lang="en-US" sz="1250" dirty="0"/>
          </a:p>
        </p:txBody>
      </p:sp>
      <p:sp>
        <p:nvSpPr>
          <p:cNvPr id="5" name="Text 3"/>
          <p:cNvSpPr/>
          <p:nvPr/>
        </p:nvSpPr>
        <p:spPr>
          <a:xfrm>
            <a:off x="1051560" y="2011680"/>
            <a:ext cx="8686800" cy="91440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The Route to Profit</a:t>
            </a:r>
            <a:endParaRPr lang="en-US" sz="4600" dirty="0"/>
          </a:p>
        </p:txBody>
      </p:sp>
      <p:sp>
        <p:nvSpPr>
          <p:cNvPr id="6" name="Text 4"/>
          <p:cNvSpPr/>
          <p:nvPr/>
        </p:nvSpPr>
        <p:spPr>
          <a:xfrm>
            <a:off x="1051560" y="2926080"/>
            <a:ext cx="8686800" cy="548640"/>
          </a:xfrm>
          <a:prstGeom prst="rect">
            <a:avLst/>
          </a:prstGeom>
          <a:noFill/>
          <a:ln/>
        </p:spPr>
        <p:txBody>
          <a:bodyPr wrap="square" rtlCol="0" anchor="ctr"/>
          <a:lstStyle/>
          <a:p>
            <a:pPr indent="0" marL="0">
              <a:buNone/>
            </a:pPr>
            <a:r>
              <a:rPr lang="en-US" sz="2200" dirty="0">
                <a:solidFill>
                  <a:srgbClr val="CADCFC"/>
                </a:solidFill>
                <a:latin typeface="Calibri" pitchFamily="34" charset="0"/>
                <a:ea typeface="Calibri" pitchFamily="34" charset="-122"/>
                <a:cs typeface="Calibri" pitchFamily="34" charset="-120"/>
              </a:rPr>
              <a:t>An Aviation Investment Analysis</a:t>
            </a:r>
            <a:endParaRPr lang="en-US" sz="2200" dirty="0"/>
          </a:p>
        </p:txBody>
      </p:sp>
      <p:sp>
        <p:nvSpPr>
          <p:cNvPr id="7" name="Shape 5"/>
          <p:cNvSpPr/>
          <p:nvPr/>
        </p:nvSpPr>
        <p:spPr>
          <a:xfrm>
            <a:off x="1051560" y="3977640"/>
            <a:ext cx="2926080" cy="18288"/>
          </a:xfrm>
          <a:prstGeom prst="rect">
            <a:avLst/>
          </a:prstGeom>
          <a:solidFill>
            <a:srgbClr val="3E4A7E"/>
          </a:solidFill>
          <a:ln/>
        </p:spPr>
      </p:sp>
      <p:sp>
        <p:nvSpPr>
          <p:cNvPr id="8" name="Text 6"/>
          <p:cNvSpPr/>
          <p:nvPr/>
        </p:nvSpPr>
        <p:spPr>
          <a:xfrm>
            <a:off x="1051560" y="4160520"/>
            <a:ext cx="5486400" cy="411480"/>
          </a:xfrm>
          <a:prstGeom prst="rect">
            <a:avLst/>
          </a:prstGeom>
          <a:noFill/>
          <a:ln/>
        </p:spPr>
        <p:txBody>
          <a:bodyPr wrap="square" rtlCol="0" anchor="ctr"/>
          <a:lstStyle/>
          <a:p>
            <a:pPr indent="0" marL="0">
              <a:buNone/>
            </a:pPr>
            <a:r>
              <a:rPr lang="en-US" sz="1850" b="1" dirty="0">
                <a:solidFill>
                  <a:srgbClr val="FFFFFF"/>
                </a:solidFill>
                <a:latin typeface="Calibri" pitchFamily="34" charset="0"/>
                <a:ea typeface="Calibri" pitchFamily="34" charset="-122"/>
                <a:cs typeface="Calibri" pitchFamily="34" charset="-120"/>
              </a:rPr>
              <a:t>Zoltan Wilhelm</a:t>
            </a:r>
            <a:endParaRPr lang="en-US" sz="1850" dirty="0"/>
          </a:p>
        </p:txBody>
      </p:sp>
      <p:sp>
        <p:nvSpPr>
          <p:cNvPr id="9" name="Text 7"/>
          <p:cNvSpPr/>
          <p:nvPr/>
        </p:nvSpPr>
        <p:spPr>
          <a:xfrm>
            <a:off x="1051560" y="4572000"/>
            <a:ext cx="5486400" cy="365760"/>
          </a:xfrm>
          <a:prstGeom prst="rect">
            <a:avLst/>
          </a:prstGeom>
          <a:noFill/>
          <a:ln/>
        </p:spPr>
        <p:txBody>
          <a:bodyPr wrap="square" rtlCol="0" anchor="ctr"/>
          <a:lstStyle/>
          <a:p>
            <a:pPr indent="0" marL="0">
              <a:buNone/>
            </a:pPr>
            <a:r>
              <a:rPr lang="en-US" sz="1450" dirty="0">
                <a:solidFill>
                  <a:srgbClr val="8C9BC9"/>
                </a:solidFill>
                <a:latin typeface="Calibri" pitchFamily="34" charset="0"/>
                <a:ea typeface="Calibri" pitchFamily="34" charset="-122"/>
                <a:cs typeface="Calibri" pitchFamily="34" charset="-120"/>
              </a:rPr>
              <a:t>North America  ·  2010 – 2025</a:t>
            </a:r>
            <a:endParaRPr lang="en-US" sz="1450" dirty="0"/>
          </a:p>
        </p:txBody>
      </p:sp>
      <p:sp>
        <p:nvSpPr>
          <p:cNvPr id="10" name="Shape 8"/>
          <p:cNvSpPr/>
          <p:nvPr/>
        </p:nvSpPr>
        <p:spPr>
          <a:xfrm>
            <a:off x="7452360" y="4892040"/>
            <a:ext cx="82296" cy="82296"/>
          </a:xfrm>
          <a:prstGeom prst="ellipse">
            <a:avLst/>
          </a:prstGeom>
          <a:solidFill>
            <a:srgbClr val="6B7BB5"/>
          </a:solidFill>
          <a:ln/>
        </p:spPr>
      </p:sp>
      <p:sp>
        <p:nvSpPr>
          <p:cNvPr id="11" name="Shape 9"/>
          <p:cNvSpPr/>
          <p:nvPr/>
        </p:nvSpPr>
        <p:spPr>
          <a:xfrm>
            <a:off x="8275320" y="4315968"/>
            <a:ext cx="82296" cy="82296"/>
          </a:xfrm>
          <a:prstGeom prst="ellipse">
            <a:avLst/>
          </a:prstGeom>
          <a:solidFill>
            <a:srgbClr val="6B7BB5"/>
          </a:solidFill>
          <a:ln/>
        </p:spPr>
      </p:sp>
      <p:sp>
        <p:nvSpPr>
          <p:cNvPr id="12" name="Shape 10"/>
          <p:cNvSpPr/>
          <p:nvPr/>
        </p:nvSpPr>
        <p:spPr>
          <a:xfrm>
            <a:off x="9098280" y="3877056"/>
            <a:ext cx="82296" cy="82296"/>
          </a:xfrm>
          <a:prstGeom prst="ellipse">
            <a:avLst/>
          </a:prstGeom>
          <a:solidFill>
            <a:srgbClr val="6B7BB5"/>
          </a:solidFill>
          <a:ln/>
        </p:spPr>
      </p:sp>
      <p:sp>
        <p:nvSpPr>
          <p:cNvPr id="13" name="Shape 11"/>
          <p:cNvSpPr/>
          <p:nvPr/>
        </p:nvSpPr>
        <p:spPr>
          <a:xfrm>
            <a:off x="9921240" y="3584448"/>
            <a:ext cx="82296" cy="82296"/>
          </a:xfrm>
          <a:prstGeom prst="ellipse">
            <a:avLst/>
          </a:prstGeom>
          <a:solidFill>
            <a:srgbClr val="6B7BB5"/>
          </a:solidFill>
          <a:ln/>
        </p:spPr>
      </p:sp>
      <p:sp>
        <p:nvSpPr>
          <p:cNvPr id="14" name="Shape 12"/>
          <p:cNvSpPr/>
          <p:nvPr/>
        </p:nvSpPr>
        <p:spPr>
          <a:xfrm>
            <a:off x="10744200" y="3438144"/>
            <a:ext cx="82296" cy="82296"/>
          </a:xfrm>
          <a:prstGeom prst="ellipse">
            <a:avLst/>
          </a:prstGeom>
          <a:solidFill>
            <a:srgbClr val="6B7BB5"/>
          </a:solidFill>
          <a:ln/>
        </p:spPr>
      </p:sp>
      <p:sp>
        <p:nvSpPr>
          <p:cNvPr id="15" name="Shape 13"/>
          <p:cNvSpPr/>
          <p:nvPr/>
        </p:nvSpPr>
        <p:spPr>
          <a:xfrm>
            <a:off x="7086600" y="5029200"/>
            <a:ext cx="256032" cy="256032"/>
          </a:xfrm>
          <a:prstGeom prst="ellipse">
            <a:avLst/>
          </a:prstGeom>
          <a:solidFill>
            <a:srgbClr val="CADCFC"/>
          </a:solidFill>
          <a:ln/>
        </p:spPr>
      </p:sp>
      <p:sp>
        <p:nvSpPr>
          <p:cNvPr id="16" name="Shape 14"/>
          <p:cNvSpPr/>
          <p:nvPr/>
        </p:nvSpPr>
        <p:spPr>
          <a:xfrm>
            <a:off x="10927080" y="2999232"/>
            <a:ext cx="841248" cy="841248"/>
          </a:xfrm>
          <a:prstGeom prst="ellipse">
            <a:avLst/>
          </a:prstGeom>
          <a:solidFill>
            <a:srgbClr val="D98E04"/>
          </a:solidFill>
          <a:ln/>
        </p:spPr>
      </p:sp>
      <p:sp>
        <p:nvSpPr>
          <p:cNvPr id="17" name="Text 15"/>
          <p:cNvSpPr/>
          <p:nvPr/>
        </p:nvSpPr>
        <p:spPr>
          <a:xfrm>
            <a:off x="10927080" y="2999232"/>
            <a:ext cx="841248" cy="841248"/>
          </a:xfrm>
          <a:prstGeom prst="rect">
            <a:avLst/>
          </a:prstGeom>
          <a:noFill/>
          <a:ln/>
        </p:spPr>
        <p:txBody>
          <a:bodyPr wrap="square" rtlCol="0" anchor="ctr"/>
          <a:lstStyle/>
          <a:p>
            <a:pPr algn="ctr" indent="0" marL="0">
              <a:buNone/>
            </a:pPr>
            <a:r>
              <a:rPr lang="en-US" sz="2400" dirty="0">
                <a:solidFill>
                  <a:srgbClr val="1E2761"/>
                </a:solidFill>
              </a:rPr>
              <a:t>✈</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731520" y="1051560"/>
            <a:ext cx="100584" cy="1371600"/>
          </a:xfrm>
          <a:prstGeom prst="rect">
            <a:avLst/>
          </a:prstGeom>
          <a:solidFill>
            <a:srgbClr val="D98E04"/>
          </a:solidFill>
          <a:ln/>
        </p:spPr>
      </p:sp>
      <p:sp>
        <p:nvSpPr>
          <p:cNvPr id="3" name="Text 1"/>
          <p:cNvSpPr/>
          <p:nvPr/>
        </p:nvSpPr>
        <p:spPr>
          <a:xfrm>
            <a:off x="1051560" y="685800"/>
            <a:ext cx="8229600" cy="320040"/>
          </a:xfrm>
          <a:prstGeom prst="rect">
            <a:avLst/>
          </a:prstGeom>
          <a:noFill/>
          <a:ln/>
        </p:spPr>
        <p:txBody>
          <a:bodyPr wrap="square" rtlCol="0" anchor="ctr"/>
          <a:lstStyle/>
          <a:p>
            <a:pPr indent="0" marL="0">
              <a:buNone/>
            </a:pPr>
            <a:r>
              <a:rPr lang="en-US" sz="1250" b="1" spc="100" kern="0" dirty="0">
                <a:solidFill>
                  <a:srgbClr val="D98E04"/>
                </a:solidFill>
                <a:latin typeface="Calibri" pitchFamily="34" charset="0"/>
                <a:ea typeface="Calibri" pitchFamily="34" charset="-122"/>
                <a:cs typeface="Calibri" pitchFamily="34" charset="-120"/>
              </a:rPr>
              <a:t>T H E   C E N T R A L   Q U E S T I O N</a:t>
            </a:r>
            <a:endParaRPr lang="en-US" sz="1250" dirty="0"/>
          </a:p>
        </p:txBody>
      </p:sp>
      <p:sp>
        <p:nvSpPr>
          <p:cNvPr id="4" name="Text 2"/>
          <p:cNvSpPr/>
          <p:nvPr/>
        </p:nvSpPr>
        <p:spPr>
          <a:xfrm>
            <a:off x="1051560" y="1051560"/>
            <a:ext cx="10058400" cy="1463040"/>
          </a:xfrm>
          <a:prstGeom prst="rect">
            <a:avLst/>
          </a:prstGeom>
          <a:noFill/>
          <a:ln/>
        </p:spPr>
        <p:txBody>
          <a:bodyPr wrap="square" rtlCol="0" anchor="ctr"/>
          <a:lstStyle/>
          <a:p>
            <a:pPr indent="0" marL="0">
              <a:lnSpc>
                <a:spcPct val="110000"/>
              </a:lnSpc>
              <a:buNone/>
            </a:pPr>
            <a:r>
              <a:rPr lang="en-US" sz="3400" b="1" dirty="0">
                <a:solidFill>
                  <a:srgbClr val="1E2761"/>
                </a:solidFill>
                <a:latin typeface="Cambria" pitchFamily="34" charset="0"/>
                <a:ea typeface="Cambria" pitchFamily="34" charset="-122"/>
                <a:cs typeface="Cambria" pitchFamily="34" charset="-120"/>
              </a:rPr>
              <a:t>Which airline and region is</a:t>
            </a:r>
            <a:endParaRPr lang="en-US" sz="3400" dirty="0"/>
          </a:p>
          <a:p>
            <a:pPr indent="0" marL="0">
              <a:lnSpc>
                <a:spcPct val="110000"/>
              </a:lnSpc>
              <a:buNone/>
            </a:pPr>
            <a:r>
              <a:rPr lang="en-US" sz="3400" b="1" dirty="0">
                <a:solidFill>
                  <a:srgbClr val="1E2761"/>
                </a:solidFill>
                <a:latin typeface="Cambria" pitchFamily="34" charset="0"/>
                <a:ea typeface="Cambria" pitchFamily="34" charset="-122"/>
                <a:cs typeface="Cambria" pitchFamily="34" charset="-120"/>
              </a:rPr>
              <a:t>the most investment-worthy?</a:t>
            </a:r>
            <a:endParaRPr lang="en-US" sz="3400" dirty="0"/>
          </a:p>
        </p:txBody>
      </p:sp>
      <p:sp>
        <p:nvSpPr>
          <p:cNvPr id="5" name="Text 3"/>
          <p:cNvSpPr/>
          <p:nvPr/>
        </p:nvSpPr>
        <p:spPr>
          <a:xfrm>
            <a:off x="1051560" y="2761488"/>
            <a:ext cx="10058400" cy="457200"/>
          </a:xfrm>
          <a:prstGeom prst="rect">
            <a:avLst/>
          </a:prstGeom>
          <a:noFill/>
          <a:ln/>
        </p:spPr>
        <p:txBody>
          <a:bodyPr wrap="square" rtlCol="0" anchor="ctr"/>
          <a:lstStyle/>
          <a:p>
            <a:pPr indent="0" marL="0">
              <a:buNone/>
            </a:pPr>
            <a:r>
              <a:rPr lang="en-US" sz="1700" i="1" dirty="0">
                <a:solidFill>
                  <a:srgbClr val="4A5568"/>
                </a:solidFill>
                <a:latin typeface="Calibri" pitchFamily="34" charset="0"/>
                <a:ea typeface="Calibri" pitchFamily="34" charset="-122"/>
                <a:cs typeface="Calibri" pitchFamily="34" charset="-120"/>
              </a:rPr>
              <a:t>To answer it, I test five things — each one a piece of evidence:</a:t>
            </a:r>
            <a:endParaRPr lang="en-US" sz="1700" dirty="0"/>
          </a:p>
        </p:txBody>
      </p:sp>
      <p:sp>
        <p:nvSpPr>
          <p:cNvPr id="6" name="Shape 4"/>
          <p:cNvSpPr/>
          <p:nvPr/>
        </p:nvSpPr>
        <p:spPr>
          <a:xfrm>
            <a:off x="777240" y="3429000"/>
            <a:ext cx="2148840" cy="1965960"/>
          </a:xfrm>
          <a:prstGeom prst="roundRect">
            <a:avLst>
              <a:gd name="adj" fmla="val 2791"/>
            </a:avLst>
          </a:prstGeom>
          <a:solidFill>
            <a:srgbClr val="FFFFFF"/>
          </a:solidFill>
          <a:ln/>
          <a:effectLst>
            <a:outerShdw sx="100000" sy="100000" kx="0" ky="0" algn="bl" rotWithShape="0" blurRad="76200" dist="25400" dir="5400000">
              <a:srgbClr val="1E2761">
                <a:alpha val="14000"/>
              </a:srgbClr>
            </a:outerShdw>
          </a:effectLst>
        </p:spPr>
      </p:sp>
      <p:sp>
        <p:nvSpPr>
          <p:cNvPr id="7" name="Shape 5"/>
          <p:cNvSpPr/>
          <p:nvPr/>
        </p:nvSpPr>
        <p:spPr>
          <a:xfrm>
            <a:off x="777240" y="3429000"/>
            <a:ext cx="2148840" cy="54864"/>
          </a:xfrm>
          <a:prstGeom prst="rect">
            <a:avLst/>
          </a:prstGeom>
          <a:solidFill>
            <a:srgbClr val="D98E04"/>
          </a:solidFill>
          <a:ln/>
        </p:spPr>
      </p:sp>
      <p:sp>
        <p:nvSpPr>
          <p:cNvPr id="8" name="Text 6"/>
          <p:cNvSpPr/>
          <p:nvPr/>
        </p:nvSpPr>
        <p:spPr>
          <a:xfrm>
            <a:off x="960120" y="3584448"/>
            <a:ext cx="1828800" cy="411480"/>
          </a:xfrm>
          <a:prstGeom prst="rect">
            <a:avLst/>
          </a:prstGeom>
          <a:noFill/>
          <a:ln/>
        </p:spPr>
        <p:txBody>
          <a:bodyPr wrap="square" rtlCol="0" anchor="ctr"/>
          <a:lstStyle/>
          <a:p>
            <a:pPr indent="0" marL="0">
              <a:buNone/>
            </a:pPr>
            <a:r>
              <a:rPr lang="en-US" sz="1900" b="1" dirty="0">
                <a:solidFill>
                  <a:srgbClr val="D98E04"/>
                </a:solidFill>
                <a:latin typeface="Cambria" pitchFamily="34" charset="0"/>
                <a:ea typeface="Cambria" pitchFamily="34" charset="-122"/>
                <a:cs typeface="Cambria" pitchFamily="34" charset="-120"/>
              </a:rPr>
              <a:t>WHERE</a:t>
            </a:r>
            <a:endParaRPr lang="en-US" sz="1900" dirty="0"/>
          </a:p>
        </p:txBody>
      </p:sp>
      <p:sp>
        <p:nvSpPr>
          <p:cNvPr id="9" name="Text 7"/>
          <p:cNvSpPr/>
          <p:nvPr/>
        </p:nvSpPr>
        <p:spPr>
          <a:xfrm>
            <a:off x="960120" y="4041648"/>
            <a:ext cx="1828800" cy="1280160"/>
          </a:xfrm>
          <a:prstGeom prst="rect">
            <a:avLst/>
          </a:prstGeom>
          <a:noFill/>
          <a:ln/>
        </p:spPr>
        <p:txBody>
          <a:bodyPr wrap="square" rtlCol="0" anchor="t"/>
          <a:lstStyle/>
          <a:p>
            <a:pPr indent="0" marL="0">
              <a:lnSpc>
                <a:spcPct val="120000"/>
              </a:lnSpc>
              <a:buNone/>
            </a:pPr>
            <a:r>
              <a:rPr lang="en-US" sz="1350" dirty="0">
                <a:solidFill>
                  <a:srgbClr val="4A5568"/>
                </a:solidFill>
                <a:latin typeface="Calibri" pitchFamily="34" charset="0"/>
                <a:ea typeface="Calibri" pitchFamily="34" charset="-122"/>
                <a:cs typeface="Calibri" pitchFamily="34" charset="-120"/>
              </a:rPr>
              <a:t>Which region leads — on size, margin and growth?</a:t>
            </a:r>
            <a:endParaRPr lang="en-US" sz="1350" dirty="0"/>
          </a:p>
        </p:txBody>
      </p:sp>
      <p:sp>
        <p:nvSpPr>
          <p:cNvPr id="10" name="Shape 8"/>
          <p:cNvSpPr/>
          <p:nvPr/>
        </p:nvSpPr>
        <p:spPr>
          <a:xfrm>
            <a:off x="3063240" y="3429000"/>
            <a:ext cx="2148840" cy="1965960"/>
          </a:xfrm>
          <a:prstGeom prst="roundRect">
            <a:avLst>
              <a:gd name="adj" fmla="val 2791"/>
            </a:avLst>
          </a:prstGeom>
          <a:solidFill>
            <a:srgbClr val="FFFFFF"/>
          </a:solidFill>
          <a:ln/>
          <a:effectLst>
            <a:outerShdw sx="100000" sy="100000" kx="0" ky="0" algn="bl" rotWithShape="0" blurRad="76200" dist="25400" dir="5400000">
              <a:srgbClr val="1E2761">
                <a:alpha val="14000"/>
              </a:srgbClr>
            </a:outerShdw>
          </a:effectLst>
        </p:spPr>
      </p:sp>
      <p:sp>
        <p:nvSpPr>
          <p:cNvPr id="11" name="Shape 9"/>
          <p:cNvSpPr/>
          <p:nvPr/>
        </p:nvSpPr>
        <p:spPr>
          <a:xfrm>
            <a:off x="3063240" y="3429000"/>
            <a:ext cx="2148840" cy="54864"/>
          </a:xfrm>
          <a:prstGeom prst="rect">
            <a:avLst/>
          </a:prstGeom>
          <a:solidFill>
            <a:srgbClr val="D98E04"/>
          </a:solidFill>
          <a:ln/>
        </p:spPr>
      </p:sp>
      <p:sp>
        <p:nvSpPr>
          <p:cNvPr id="12" name="Text 10"/>
          <p:cNvSpPr/>
          <p:nvPr/>
        </p:nvSpPr>
        <p:spPr>
          <a:xfrm>
            <a:off x="3246120" y="3584448"/>
            <a:ext cx="1828800" cy="411480"/>
          </a:xfrm>
          <a:prstGeom prst="rect">
            <a:avLst/>
          </a:prstGeom>
          <a:noFill/>
          <a:ln/>
        </p:spPr>
        <p:txBody>
          <a:bodyPr wrap="square" rtlCol="0" anchor="ctr"/>
          <a:lstStyle/>
          <a:p>
            <a:pPr indent="0" marL="0">
              <a:buNone/>
            </a:pPr>
            <a:r>
              <a:rPr lang="en-US" sz="1900" b="1" dirty="0">
                <a:solidFill>
                  <a:srgbClr val="D98E04"/>
                </a:solidFill>
                <a:latin typeface="Cambria" pitchFamily="34" charset="0"/>
                <a:ea typeface="Cambria" pitchFamily="34" charset="-122"/>
                <a:cs typeface="Cambria" pitchFamily="34" charset="-120"/>
              </a:rPr>
              <a:t>WHAT</a:t>
            </a:r>
            <a:endParaRPr lang="en-US" sz="1900" dirty="0"/>
          </a:p>
        </p:txBody>
      </p:sp>
      <p:sp>
        <p:nvSpPr>
          <p:cNvPr id="13" name="Text 11"/>
          <p:cNvSpPr/>
          <p:nvPr/>
        </p:nvSpPr>
        <p:spPr>
          <a:xfrm>
            <a:off x="3246120" y="4041648"/>
            <a:ext cx="1828800" cy="1280160"/>
          </a:xfrm>
          <a:prstGeom prst="rect">
            <a:avLst/>
          </a:prstGeom>
          <a:noFill/>
          <a:ln/>
        </p:spPr>
        <p:txBody>
          <a:bodyPr wrap="square" rtlCol="0" anchor="t"/>
          <a:lstStyle/>
          <a:p>
            <a:pPr indent="0" marL="0">
              <a:lnSpc>
                <a:spcPct val="120000"/>
              </a:lnSpc>
              <a:buNone/>
            </a:pPr>
            <a:r>
              <a:rPr lang="en-US" sz="1350" dirty="0">
                <a:solidFill>
                  <a:srgbClr val="4A5568"/>
                </a:solidFill>
                <a:latin typeface="Calibri" pitchFamily="34" charset="0"/>
                <a:ea typeface="Calibri" pitchFamily="34" charset="-122"/>
                <a:cs typeface="Calibri" pitchFamily="34" charset="-120"/>
              </a:rPr>
              <a:t>Legacy or low-cost — which model performs better?</a:t>
            </a:r>
            <a:endParaRPr lang="en-US" sz="1350" dirty="0"/>
          </a:p>
        </p:txBody>
      </p:sp>
      <p:sp>
        <p:nvSpPr>
          <p:cNvPr id="14" name="Shape 12"/>
          <p:cNvSpPr/>
          <p:nvPr/>
        </p:nvSpPr>
        <p:spPr>
          <a:xfrm>
            <a:off x="5349240" y="3429000"/>
            <a:ext cx="2148840" cy="1965960"/>
          </a:xfrm>
          <a:prstGeom prst="roundRect">
            <a:avLst>
              <a:gd name="adj" fmla="val 2791"/>
            </a:avLst>
          </a:prstGeom>
          <a:solidFill>
            <a:srgbClr val="FFFFFF"/>
          </a:solidFill>
          <a:ln/>
          <a:effectLst>
            <a:outerShdw sx="100000" sy="100000" kx="0" ky="0" algn="bl" rotWithShape="0" blurRad="76200" dist="25400" dir="5400000">
              <a:srgbClr val="1E2761">
                <a:alpha val="14000"/>
              </a:srgbClr>
            </a:outerShdw>
          </a:effectLst>
        </p:spPr>
      </p:sp>
      <p:sp>
        <p:nvSpPr>
          <p:cNvPr id="15" name="Shape 13"/>
          <p:cNvSpPr/>
          <p:nvPr/>
        </p:nvSpPr>
        <p:spPr>
          <a:xfrm>
            <a:off x="5349240" y="3429000"/>
            <a:ext cx="2148840" cy="54864"/>
          </a:xfrm>
          <a:prstGeom prst="rect">
            <a:avLst/>
          </a:prstGeom>
          <a:solidFill>
            <a:srgbClr val="D98E04"/>
          </a:solidFill>
          <a:ln/>
        </p:spPr>
      </p:sp>
      <p:sp>
        <p:nvSpPr>
          <p:cNvPr id="16" name="Text 14"/>
          <p:cNvSpPr/>
          <p:nvPr/>
        </p:nvSpPr>
        <p:spPr>
          <a:xfrm>
            <a:off x="5532120" y="3584448"/>
            <a:ext cx="1828800" cy="411480"/>
          </a:xfrm>
          <a:prstGeom prst="rect">
            <a:avLst/>
          </a:prstGeom>
          <a:noFill/>
          <a:ln/>
        </p:spPr>
        <p:txBody>
          <a:bodyPr wrap="square" rtlCol="0" anchor="ctr"/>
          <a:lstStyle/>
          <a:p>
            <a:pPr indent="0" marL="0">
              <a:buNone/>
            </a:pPr>
            <a:r>
              <a:rPr lang="en-US" sz="1900" b="1" dirty="0">
                <a:solidFill>
                  <a:srgbClr val="D98E04"/>
                </a:solidFill>
                <a:latin typeface="Cambria" pitchFamily="34" charset="0"/>
                <a:ea typeface="Cambria" pitchFamily="34" charset="-122"/>
                <a:cs typeface="Cambria" pitchFamily="34" charset="-120"/>
              </a:rPr>
              <a:t>WHEN</a:t>
            </a:r>
            <a:endParaRPr lang="en-US" sz="1900" dirty="0"/>
          </a:p>
        </p:txBody>
      </p:sp>
      <p:sp>
        <p:nvSpPr>
          <p:cNvPr id="17" name="Text 15"/>
          <p:cNvSpPr/>
          <p:nvPr/>
        </p:nvSpPr>
        <p:spPr>
          <a:xfrm>
            <a:off x="5532120" y="4041648"/>
            <a:ext cx="1828800" cy="1280160"/>
          </a:xfrm>
          <a:prstGeom prst="rect">
            <a:avLst/>
          </a:prstGeom>
          <a:noFill/>
          <a:ln/>
        </p:spPr>
        <p:txBody>
          <a:bodyPr wrap="square" rtlCol="0" anchor="t"/>
          <a:lstStyle/>
          <a:p>
            <a:pPr indent="0" marL="0">
              <a:lnSpc>
                <a:spcPct val="120000"/>
              </a:lnSpc>
              <a:buNone/>
            </a:pPr>
            <a:r>
              <a:rPr lang="en-US" sz="1350" dirty="0">
                <a:solidFill>
                  <a:srgbClr val="4A5568"/>
                </a:solidFill>
                <a:latin typeface="Calibri" pitchFamily="34" charset="0"/>
                <a:ea typeface="Calibri" pitchFamily="34" charset="-122"/>
                <a:cs typeface="Calibri" pitchFamily="34" charset="-120"/>
              </a:rPr>
              <a:t>How fast does the market recover from a shock?</a:t>
            </a:r>
            <a:endParaRPr lang="en-US" sz="1350" dirty="0"/>
          </a:p>
        </p:txBody>
      </p:sp>
      <p:sp>
        <p:nvSpPr>
          <p:cNvPr id="18" name="Shape 16"/>
          <p:cNvSpPr/>
          <p:nvPr/>
        </p:nvSpPr>
        <p:spPr>
          <a:xfrm>
            <a:off x="7635240" y="3429000"/>
            <a:ext cx="2148840" cy="1965960"/>
          </a:xfrm>
          <a:prstGeom prst="roundRect">
            <a:avLst>
              <a:gd name="adj" fmla="val 2791"/>
            </a:avLst>
          </a:prstGeom>
          <a:solidFill>
            <a:srgbClr val="FFFFFF"/>
          </a:solidFill>
          <a:ln/>
          <a:effectLst>
            <a:outerShdw sx="100000" sy="100000" kx="0" ky="0" algn="bl" rotWithShape="0" blurRad="76200" dist="25400" dir="5400000">
              <a:srgbClr val="1E2761">
                <a:alpha val="14000"/>
              </a:srgbClr>
            </a:outerShdw>
          </a:effectLst>
        </p:spPr>
      </p:sp>
      <p:sp>
        <p:nvSpPr>
          <p:cNvPr id="19" name="Shape 17"/>
          <p:cNvSpPr/>
          <p:nvPr/>
        </p:nvSpPr>
        <p:spPr>
          <a:xfrm>
            <a:off x="7635240" y="3429000"/>
            <a:ext cx="2148840" cy="54864"/>
          </a:xfrm>
          <a:prstGeom prst="rect">
            <a:avLst/>
          </a:prstGeom>
          <a:solidFill>
            <a:srgbClr val="D98E04"/>
          </a:solidFill>
          <a:ln/>
        </p:spPr>
      </p:sp>
      <p:sp>
        <p:nvSpPr>
          <p:cNvPr id="20" name="Text 18"/>
          <p:cNvSpPr/>
          <p:nvPr/>
        </p:nvSpPr>
        <p:spPr>
          <a:xfrm>
            <a:off x="7818120" y="3584448"/>
            <a:ext cx="1828800" cy="411480"/>
          </a:xfrm>
          <a:prstGeom prst="rect">
            <a:avLst/>
          </a:prstGeom>
          <a:noFill/>
          <a:ln/>
        </p:spPr>
        <p:txBody>
          <a:bodyPr wrap="square" rtlCol="0" anchor="ctr"/>
          <a:lstStyle/>
          <a:p>
            <a:pPr indent="0" marL="0">
              <a:buNone/>
            </a:pPr>
            <a:r>
              <a:rPr lang="en-US" sz="1900" b="1" dirty="0">
                <a:solidFill>
                  <a:srgbClr val="D98E04"/>
                </a:solidFill>
                <a:latin typeface="Cambria" pitchFamily="34" charset="0"/>
                <a:ea typeface="Cambria" pitchFamily="34" charset="-122"/>
                <a:cs typeface="Cambria" pitchFamily="34" charset="-120"/>
              </a:rPr>
              <a:t>WHICH</a:t>
            </a:r>
            <a:endParaRPr lang="en-US" sz="1900" dirty="0"/>
          </a:p>
        </p:txBody>
      </p:sp>
      <p:sp>
        <p:nvSpPr>
          <p:cNvPr id="21" name="Text 19"/>
          <p:cNvSpPr/>
          <p:nvPr/>
        </p:nvSpPr>
        <p:spPr>
          <a:xfrm>
            <a:off x="7818120" y="4041648"/>
            <a:ext cx="1828800" cy="1280160"/>
          </a:xfrm>
          <a:prstGeom prst="rect">
            <a:avLst/>
          </a:prstGeom>
          <a:noFill/>
          <a:ln/>
        </p:spPr>
        <p:txBody>
          <a:bodyPr wrap="square" rtlCol="0" anchor="t"/>
          <a:lstStyle/>
          <a:p>
            <a:pPr indent="0" marL="0">
              <a:lnSpc>
                <a:spcPct val="120000"/>
              </a:lnSpc>
              <a:buNone/>
            </a:pPr>
            <a:r>
              <a:rPr lang="en-US" sz="1350" dirty="0">
                <a:solidFill>
                  <a:srgbClr val="4A5568"/>
                </a:solidFill>
                <a:latin typeface="Calibri" pitchFamily="34" charset="0"/>
                <a:ea typeface="Calibri" pitchFamily="34" charset="-122"/>
                <a:cs typeface="Calibri" pitchFamily="34" charset="-120"/>
              </a:rPr>
              <a:t>Which routes carry the revenue?</a:t>
            </a:r>
            <a:endParaRPr lang="en-US" sz="1350" dirty="0"/>
          </a:p>
        </p:txBody>
      </p:sp>
      <p:sp>
        <p:nvSpPr>
          <p:cNvPr id="22" name="Shape 20"/>
          <p:cNvSpPr/>
          <p:nvPr/>
        </p:nvSpPr>
        <p:spPr>
          <a:xfrm>
            <a:off x="9921240" y="3429000"/>
            <a:ext cx="2148840" cy="1965960"/>
          </a:xfrm>
          <a:prstGeom prst="roundRect">
            <a:avLst>
              <a:gd name="adj" fmla="val 2791"/>
            </a:avLst>
          </a:prstGeom>
          <a:solidFill>
            <a:srgbClr val="FFFFFF"/>
          </a:solidFill>
          <a:ln/>
          <a:effectLst>
            <a:outerShdw sx="100000" sy="100000" kx="0" ky="0" algn="bl" rotWithShape="0" blurRad="76200" dist="25400" dir="5400000">
              <a:srgbClr val="1E2761">
                <a:alpha val="14000"/>
              </a:srgbClr>
            </a:outerShdw>
          </a:effectLst>
        </p:spPr>
      </p:sp>
      <p:sp>
        <p:nvSpPr>
          <p:cNvPr id="23" name="Shape 21"/>
          <p:cNvSpPr/>
          <p:nvPr/>
        </p:nvSpPr>
        <p:spPr>
          <a:xfrm>
            <a:off x="9921240" y="3429000"/>
            <a:ext cx="2148840" cy="54864"/>
          </a:xfrm>
          <a:prstGeom prst="rect">
            <a:avLst/>
          </a:prstGeom>
          <a:solidFill>
            <a:srgbClr val="D98E04"/>
          </a:solidFill>
          <a:ln/>
        </p:spPr>
      </p:sp>
      <p:sp>
        <p:nvSpPr>
          <p:cNvPr id="24" name="Text 22"/>
          <p:cNvSpPr/>
          <p:nvPr/>
        </p:nvSpPr>
        <p:spPr>
          <a:xfrm>
            <a:off x="10104120" y="3584448"/>
            <a:ext cx="1828800" cy="411480"/>
          </a:xfrm>
          <a:prstGeom prst="rect">
            <a:avLst/>
          </a:prstGeom>
          <a:noFill/>
          <a:ln/>
        </p:spPr>
        <p:txBody>
          <a:bodyPr wrap="square" rtlCol="0" anchor="ctr"/>
          <a:lstStyle/>
          <a:p>
            <a:pPr indent="0" marL="0">
              <a:buNone/>
            </a:pPr>
            <a:r>
              <a:rPr lang="en-US" sz="1900" b="1" dirty="0">
                <a:solidFill>
                  <a:srgbClr val="D98E04"/>
                </a:solidFill>
                <a:latin typeface="Cambria" pitchFamily="34" charset="0"/>
                <a:ea typeface="Cambria" pitchFamily="34" charset="-122"/>
                <a:cs typeface="Cambria" pitchFamily="34" charset="-120"/>
              </a:rPr>
              <a:t>HOW</a:t>
            </a:r>
            <a:endParaRPr lang="en-US" sz="1900" dirty="0"/>
          </a:p>
        </p:txBody>
      </p:sp>
      <p:sp>
        <p:nvSpPr>
          <p:cNvPr id="25" name="Text 23"/>
          <p:cNvSpPr/>
          <p:nvPr/>
        </p:nvSpPr>
        <p:spPr>
          <a:xfrm>
            <a:off x="10104120" y="4041648"/>
            <a:ext cx="1828800" cy="1280160"/>
          </a:xfrm>
          <a:prstGeom prst="rect">
            <a:avLst/>
          </a:prstGeom>
          <a:noFill/>
          <a:ln/>
        </p:spPr>
        <p:txBody>
          <a:bodyPr wrap="square" rtlCol="0" anchor="t"/>
          <a:lstStyle/>
          <a:p>
            <a:pPr indent="0" marL="0">
              <a:lnSpc>
                <a:spcPct val="120000"/>
              </a:lnSpc>
              <a:buNone/>
            </a:pPr>
            <a:r>
              <a:rPr lang="en-US" sz="1350" dirty="0">
                <a:solidFill>
                  <a:srgbClr val="4A5568"/>
                </a:solidFill>
                <a:latin typeface="Calibri" pitchFamily="34" charset="0"/>
                <a:ea typeface="Calibri" pitchFamily="34" charset="-122"/>
                <a:cs typeface="Calibri" pitchFamily="34" charset="-120"/>
              </a:rPr>
              <a:t>Volume or margin — where is the real return?</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1E2761"/>
          </a:solidFill>
          <a:ln/>
        </p:spPr>
      </p:sp>
      <p:sp>
        <p:nvSpPr>
          <p:cNvPr id="3" name="Shape 1"/>
          <p:cNvSpPr/>
          <p:nvPr/>
        </p:nvSpPr>
        <p:spPr>
          <a:xfrm>
            <a:off x="0" y="914400"/>
            <a:ext cx="12188952" cy="50292"/>
          </a:xfrm>
          <a:prstGeom prst="rect">
            <a:avLst/>
          </a:prstGeom>
          <a:solidFill>
            <a:srgbClr val="D98E04"/>
          </a:solidFill>
          <a:ln/>
        </p:spPr>
      </p:sp>
      <p:sp>
        <p:nvSpPr>
          <p:cNvPr id="4" name="Text 2"/>
          <p:cNvSpPr/>
          <p:nvPr/>
        </p:nvSpPr>
        <p:spPr>
          <a:xfrm>
            <a:off x="502920" y="146304"/>
            <a:ext cx="731520" cy="621792"/>
          </a:xfrm>
          <a:prstGeom prst="rect">
            <a:avLst/>
          </a:prstGeom>
          <a:noFill/>
          <a:ln/>
        </p:spPr>
        <p:txBody>
          <a:bodyPr wrap="square" rtlCol="0" anchor="ctr"/>
          <a:lstStyle/>
          <a:p>
            <a:pPr indent="0" marL="0">
              <a:buNone/>
            </a:pPr>
            <a:r>
              <a:rPr lang="en-US" sz="2700" b="1" dirty="0">
                <a:solidFill>
                  <a:srgbClr val="D98E04"/>
                </a:solidFill>
                <a:latin typeface="Cambria" pitchFamily="34" charset="0"/>
                <a:ea typeface="Cambria" pitchFamily="34" charset="-122"/>
                <a:cs typeface="Cambria" pitchFamily="34" charset="-120"/>
              </a:rPr>
              <a:t>●</a:t>
            </a:r>
            <a:endParaRPr lang="en-US" sz="2700" dirty="0"/>
          </a:p>
        </p:txBody>
      </p:sp>
      <p:sp>
        <p:nvSpPr>
          <p:cNvPr id="5" name="Text 3"/>
          <p:cNvSpPr/>
          <p:nvPr/>
        </p:nvSpPr>
        <p:spPr>
          <a:xfrm>
            <a:off x="1325880" y="146304"/>
            <a:ext cx="10332720" cy="621792"/>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About the Dataset</a:t>
            </a:r>
            <a:endParaRPr lang="en-US" sz="1900" dirty="0"/>
          </a:p>
        </p:txBody>
      </p:sp>
      <p:sp>
        <p:nvSpPr>
          <p:cNvPr id="6" name="Text 4"/>
          <p:cNvSpPr/>
          <p:nvPr/>
        </p:nvSpPr>
        <p:spPr>
          <a:xfrm>
            <a:off x="548640" y="1371600"/>
            <a:ext cx="5852160" cy="2834640"/>
          </a:xfrm>
          <a:prstGeom prst="rect">
            <a:avLst/>
          </a:prstGeom>
          <a:noFill/>
          <a:ln/>
        </p:spPr>
        <p:txBody>
          <a:bodyPr wrap="square" rtlCol="0" anchor="t"/>
          <a:lstStyle/>
          <a:p>
            <a:pPr indent="0" marL="0">
              <a:lnSpc>
                <a:spcPct val="130000"/>
              </a:lnSpc>
              <a:buNone/>
            </a:pPr>
            <a:r>
              <a:rPr lang="en-US" sz="1700" dirty="0">
                <a:solidFill>
                  <a:srgbClr val="4A5568"/>
                </a:solidFill>
                <a:latin typeface="Calibri" pitchFamily="34" charset="0"/>
                <a:ea typeface="Calibri" pitchFamily="34" charset="-122"/>
                <a:cs typeface="Calibri" pitchFamily="34" charset="-120"/>
              </a:rPr>
              <a:t>A dataset tracking the global aviation industry, anchored in real public sources: SEC 10-K filings, Boeing and Airbus reports, IATA traffic analysis, ASN safety records and ICAO statistics.</a:t>
            </a:r>
            <a:endParaRPr lang="en-US" sz="1700" dirty="0"/>
          </a:p>
          <a:p>
            <a:pPr indent="0" marL="0">
              <a:lnSpc>
                <a:spcPct val="130000"/>
              </a:lnSpc>
              <a:buNone/>
            </a:pPr>
            <a:endParaRPr lang="en-US" sz="1700" dirty="0"/>
          </a:p>
          <a:p>
            <a:pPr indent="0" marL="0">
              <a:lnSpc>
                <a:spcPct val="130000"/>
              </a:lnSpc>
              <a:buNone/>
            </a:pPr>
            <a:r>
              <a:rPr lang="en-US" sz="1700" dirty="0">
                <a:solidFill>
                  <a:srgbClr val="4A5568"/>
                </a:solidFill>
                <a:latin typeface="Calibri" pitchFamily="34" charset="0"/>
                <a:ea typeface="Calibri" pitchFamily="34" charset="-122"/>
                <a:cs typeface="Calibri" pitchFamily="34" charset="-120"/>
              </a:rPr>
              <a:t>The analysis narrows to North America — which the first question proves is the leading market — and its six major carriers.</a:t>
            </a:r>
            <a:endParaRPr lang="en-US" sz="1700" dirty="0"/>
          </a:p>
        </p:txBody>
      </p:sp>
      <p:sp>
        <p:nvSpPr>
          <p:cNvPr id="7" name="Text 5"/>
          <p:cNvSpPr/>
          <p:nvPr/>
        </p:nvSpPr>
        <p:spPr>
          <a:xfrm>
            <a:off x="548640" y="5120640"/>
            <a:ext cx="6766560" cy="365760"/>
          </a:xfrm>
          <a:prstGeom prst="rect">
            <a:avLst/>
          </a:prstGeom>
          <a:noFill/>
          <a:ln/>
        </p:spPr>
        <p:txBody>
          <a:bodyPr wrap="square"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Source: Kaggle — "Global Aviation Industry 2010-2026" (sergionefedov)</a:t>
            </a:r>
            <a:endParaRPr lang="en-US" sz="1300" dirty="0"/>
          </a:p>
        </p:txBody>
      </p:sp>
      <p:sp>
        <p:nvSpPr>
          <p:cNvPr id="8" name="Text 6"/>
          <p:cNvSpPr/>
          <p:nvPr/>
        </p:nvSpPr>
        <p:spPr>
          <a:xfrm>
            <a:off x="548640" y="5486400"/>
            <a:ext cx="6217920" cy="640080"/>
          </a:xfrm>
          <a:prstGeom prst="rect">
            <a:avLst/>
          </a:prstGeom>
          <a:noFill/>
          <a:ln/>
        </p:spPr>
        <p:txBody>
          <a:bodyPr wrap="square" rtlCol="0" anchor="t"/>
          <a:lstStyle/>
          <a:p>
            <a:pPr indent="0" marL="0">
              <a:buNone/>
            </a:pPr>
            <a:r>
              <a:rPr lang="en-US" sz="1300" i="1" dirty="0">
                <a:solidFill>
                  <a:srgbClr val="B23A3A"/>
                </a:solidFill>
                <a:latin typeface="Calibri" pitchFamily="34" charset="0"/>
                <a:ea typeface="Calibri" pitchFamily="34" charset="-122"/>
                <a:cs typeface="Calibri" pitchFamily="34" charset="-120"/>
              </a:rPr>
              <a:t>Excluded: 2026 (incomplete year) and Latin America (only 2 airlines — too small a sample for a fair regional comparison).</a:t>
            </a:r>
            <a:endParaRPr lang="en-US" sz="1300" dirty="0"/>
          </a:p>
        </p:txBody>
      </p:sp>
      <p:sp>
        <p:nvSpPr>
          <p:cNvPr id="9" name="Shape 7"/>
          <p:cNvSpPr/>
          <p:nvPr/>
        </p:nvSpPr>
        <p:spPr>
          <a:xfrm>
            <a:off x="6858000" y="1417320"/>
            <a:ext cx="2377440" cy="1371600"/>
          </a:xfrm>
          <a:prstGeom prst="roundRect">
            <a:avLst>
              <a:gd name="adj" fmla="val 4000"/>
            </a:avLst>
          </a:prstGeom>
          <a:solidFill>
            <a:srgbClr val="F7F9FC"/>
          </a:solidFill>
          <a:ln/>
        </p:spPr>
      </p:sp>
      <p:sp>
        <p:nvSpPr>
          <p:cNvPr id="10" name="Shape 8"/>
          <p:cNvSpPr/>
          <p:nvPr/>
        </p:nvSpPr>
        <p:spPr>
          <a:xfrm>
            <a:off x="6858000" y="1417320"/>
            <a:ext cx="2377440" cy="54864"/>
          </a:xfrm>
          <a:prstGeom prst="rect">
            <a:avLst/>
          </a:prstGeom>
          <a:solidFill>
            <a:srgbClr val="1E2761"/>
          </a:solidFill>
          <a:ln/>
        </p:spPr>
      </p:sp>
      <p:sp>
        <p:nvSpPr>
          <p:cNvPr id="11" name="Text 9"/>
          <p:cNvSpPr/>
          <p:nvPr/>
        </p:nvSpPr>
        <p:spPr>
          <a:xfrm>
            <a:off x="6858000" y="1673352"/>
            <a:ext cx="2377440" cy="640080"/>
          </a:xfrm>
          <a:prstGeom prst="rect">
            <a:avLst/>
          </a:prstGeom>
          <a:noFill/>
          <a:ln/>
        </p:spPr>
        <p:txBody>
          <a:bodyPr wrap="square" rtlCol="0" anchor="ctr"/>
          <a:lstStyle/>
          <a:p>
            <a:pPr algn="ctr" indent="0" marL="0">
              <a:buNone/>
            </a:pPr>
            <a:r>
              <a:rPr lang="en-US" sz="3200" b="1" dirty="0">
                <a:solidFill>
                  <a:srgbClr val="1E2761"/>
                </a:solidFill>
                <a:latin typeface="Cambria" pitchFamily="34" charset="0"/>
                <a:ea typeface="Cambria" pitchFamily="34" charset="-122"/>
                <a:cs typeface="Cambria" pitchFamily="34" charset="-120"/>
              </a:rPr>
              <a:t>28</a:t>
            </a:r>
            <a:endParaRPr lang="en-US" sz="3200" dirty="0"/>
          </a:p>
        </p:txBody>
      </p:sp>
      <p:sp>
        <p:nvSpPr>
          <p:cNvPr id="12" name="Text 10"/>
          <p:cNvSpPr/>
          <p:nvPr/>
        </p:nvSpPr>
        <p:spPr>
          <a:xfrm>
            <a:off x="6858000" y="2313432"/>
            <a:ext cx="2377440" cy="320040"/>
          </a:xfrm>
          <a:prstGeom prst="rect">
            <a:avLst/>
          </a:prstGeom>
          <a:noFill/>
          <a:ln/>
        </p:spPr>
        <p:txBody>
          <a:bodyPr wrap="square" rtlCol="0" anchor="ctr"/>
          <a:lstStyle/>
          <a:p>
            <a:pPr algn="ctr" indent="0" marL="0">
              <a:buNone/>
            </a:pPr>
            <a:r>
              <a:rPr lang="en-US" sz="1200" b="1" spc="70" kern="0" dirty="0">
                <a:solidFill>
                  <a:srgbClr val="4A5568"/>
                </a:solidFill>
                <a:latin typeface="Calibri" pitchFamily="34" charset="0"/>
                <a:ea typeface="Calibri" pitchFamily="34" charset="-122"/>
                <a:cs typeface="Calibri" pitchFamily="34" charset="-120"/>
              </a:rPr>
              <a:t>AIRLINES</a:t>
            </a:r>
            <a:endParaRPr lang="en-US" sz="1200" dirty="0"/>
          </a:p>
        </p:txBody>
      </p:sp>
      <p:sp>
        <p:nvSpPr>
          <p:cNvPr id="13" name="Shape 11"/>
          <p:cNvSpPr/>
          <p:nvPr/>
        </p:nvSpPr>
        <p:spPr>
          <a:xfrm>
            <a:off x="9464040" y="1417320"/>
            <a:ext cx="2377440" cy="1371600"/>
          </a:xfrm>
          <a:prstGeom prst="roundRect">
            <a:avLst>
              <a:gd name="adj" fmla="val 4000"/>
            </a:avLst>
          </a:prstGeom>
          <a:solidFill>
            <a:srgbClr val="F7F9FC"/>
          </a:solidFill>
          <a:ln/>
        </p:spPr>
      </p:sp>
      <p:sp>
        <p:nvSpPr>
          <p:cNvPr id="14" name="Shape 12"/>
          <p:cNvSpPr/>
          <p:nvPr/>
        </p:nvSpPr>
        <p:spPr>
          <a:xfrm>
            <a:off x="9464040" y="1417320"/>
            <a:ext cx="2377440" cy="54864"/>
          </a:xfrm>
          <a:prstGeom prst="rect">
            <a:avLst/>
          </a:prstGeom>
          <a:solidFill>
            <a:srgbClr val="D98E04"/>
          </a:solidFill>
          <a:ln/>
        </p:spPr>
      </p:sp>
      <p:sp>
        <p:nvSpPr>
          <p:cNvPr id="15" name="Text 13"/>
          <p:cNvSpPr/>
          <p:nvPr/>
        </p:nvSpPr>
        <p:spPr>
          <a:xfrm>
            <a:off x="9464040" y="1673352"/>
            <a:ext cx="2377440" cy="640080"/>
          </a:xfrm>
          <a:prstGeom prst="rect">
            <a:avLst/>
          </a:prstGeom>
          <a:noFill/>
          <a:ln/>
        </p:spPr>
        <p:txBody>
          <a:bodyPr wrap="square" rtlCol="0" anchor="ctr"/>
          <a:lstStyle/>
          <a:p>
            <a:pPr algn="ctr" indent="0" marL="0">
              <a:buNone/>
            </a:pPr>
            <a:r>
              <a:rPr lang="en-US" sz="3200" b="1" dirty="0">
                <a:solidFill>
                  <a:srgbClr val="1E2761"/>
                </a:solidFill>
                <a:latin typeface="Cambria" pitchFamily="34" charset="0"/>
                <a:ea typeface="Cambria" pitchFamily="34" charset="-122"/>
                <a:cs typeface="Cambria" pitchFamily="34" charset="-120"/>
              </a:rPr>
              <a:t>4</a:t>
            </a:r>
            <a:endParaRPr lang="en-US" sz="3200" dirty="0"/>
          </a:p>
        </p:txBody>
      </p:sp>
      <p:sp>
        <p:nvSpPr>
          <p:cNvPr id="16" name="Text 14"/>
          <p:cNvSpPr/>
          <p:nvPr/>
        </p:nvSpPr>
        <p:spPr>
          <a:xfrm>
            <a:off x="9464040" y="2313432"/>
            <a:ext cx="2377440" cy="320040"/>
          </a:xfrm>
          <a:prstGeom prst="rect">
            <a:avLst/>
          </a:prstGeom>
          <a:noFill/>
          <a:ln/>
        </p:spPr>
        <p:txBody>
          <a:bodyPr wrap="square" rtlCol="0" anchor="ctr"/>
          <a:lstStyle/>
          <a:p>
            <a:pPr algn="ctr" indent="0" marL="0">
              <a:buNone/>
            </a:pPr>
            <a:r>
              <a:rPr lang="en-US" sz="1200" b="1" spc="70" kern="0" dirty="0">
                <a:solidFill>
                  <a:srgbClr val="4A5568"/>
                </a:solidFill>
                <a:latin typeface="Calibri" pitchFamily="34" charset="0"/>
                <a:ea typeface="Calibri" pitchFamily="34" charset="-122"/>
                <a:cs typeface="Calibri" pitchFamily="34" charset="-120"/>
              </a:rPr>
              <a:t>REGIONS</a:t>
            </a:r>
            <a:endParaRPr lang="en-US" sz="1200" dirty="0"/>
          </a:p>
        </p:txBody>
      </p:sp>
      <p:sp>
        <p:nvSpPr>
          <p:cNvPr id="17" name="Shape 15"/>
          <p:cNvSpPr/>
          <p:nvPr/>
        </p:nvSpPr>
        <p:spPr>
          <a:xfrm>
            <a:off x="6858000" y="3017520"/>
            <a:ext cx="2377440" cy="1371600"/>
          </a:xfrm>
          <a:prstGeom prst="roundRect">
            <a:avLst>
              <a:gd name="adj" fmla="val 4000"/>
            </a:avLst>
          </a:prstGeom>
          <a:solidFill>
            <a:srgbClr val="F7F9FC"/>
          </a:solidFill>
          <a:ln/>
        </p:spPr>
      </p:sp>
      <p:sp>
        <p:nvSpPr>
          <p:cNvPr id="18" name="Shape 16"/>
          <p:cNvSpPr/>
          <p:nvPr/>
        </p:nvSpPr>
        <p:spPr>
          <a:xfrm>
            <a:off x="6858000" y="3017520"/>
            <a:ext cx="2377440" cy="54864"/>
          </a:xfrm>
          <a:prstGeom prst="rect">
            <a:avLst/>
          </a:prstGeom>
          <a:solidFill>
            <a:srgbClr val="1E2761"/>
          </a:solidFill>
          <a:ln/>
        </p:spPr>
      </p:sp>
      <p:sp>
        <p:nvSpPr>
          <p:cNvPr id="19" name="Text 17"/>
          <p:cNvSpPr/>
          <p:nvPr/>
        </p:nvSpPr>
        <p:spPr>
          <a:xfrm>
            <a:off x="6858000" y="3273552"/>
            <a:ext cx="2377440" cy="640080"/>
          </a:xfrm>
          <a:prstGeom prst="rect">
            <a:avLst/>
          </a:prstGeom>
          <a:noFill/>
          <a:ln/>
        </p:spPr>
        <p:txBody>
          <a:bodyPr wrap="square" rtlCol="0" anchor="ctr"/>
          <a:lstStyle/>
          <a:p>
            <a:pPr algn="ctr" indent="0" marL="0">
              <a:buNone/>
            </a:pPr>
            <a:r>
              <a:rPr lang="en-US" sz="3200" b="1" dirty="0">
                <a:solidFill>
                  <a:srgbClr val="1E2761"/>
                </a:solidFill>
                <a:latin typeface="Cambria" pitchFamily="34" charset="0"/>
                <a:ea typeface="Cambria" pitchFamily="34" charset="-122"/>
                <a:cs typeface="Cambria" pitchFamily="34" charset="-120"/>
              </a:rPr>
              <a:t>6</a:t>
            </a:r>
            <a:endParaRPr lang="en-US" sz="3200" dirty="0"/>
          </a:p>
        </p:txBody>
      </p:sp>
      <p:sp>
        <p:nvSpPr>
          <p:cNvPr id="20" name="Text 18"/>
          <p:cNvSpPr/>
          <p:nvPr/>
        </p:nvSpPr>
        <p:spPr>
          <a:xfrm>
            <a:off x="6858000" y="3913632"/>
            <a:ext cx="2377440" cy="320040"/>
          </a:xfrm>
          <a:prstGeom prst="rect">
            <a:avLst/>
          </a:prstGeom>
          <a:noFill/>
          <a:ln/>
        </p:spPr>
        <p:txBody>
          <a:bodyPr wrap="square" rtlCol="0" anchor="ctr"/>
          <a:lstStyle/>
          <a:p>
            <a:pPr algn="ctr" indent="0" marL="0">
              <a:buNone/>
            </a:pPr>
            <a:r>
              <a:rPr lang="en-US" sz="1200" b="1" spc="70" kern="0" dirty="0">
                <a:solidFill>
                  <a:srgbClr val="4A5568"/>
                </a:solidFill>
                <a:latin typeface="Calibri" pitchFamily="34" charset="0"/>
                <a:ea typeface="Calibri" pitchFamily="34" charset="-122"/>
                <a:cs typeface="Calibri" pitchFamily="34" charset="-120"/>
              </a:rPr>
              <a:t>NA CARRIERS</a:t>
            </a:r>
            <a:endParaRPr lang="en-US" sz="1200" dirty="0"/>
          </a:p>
        </p:txBody>
      </p:sp>
      <p:sp>
        <p:nvSpPr>
          <p:cNvPr id="21" name="Shape 19"/>
          <p:cNvSpPr/>
          <p:nvPr/>
        </p:nvSpPr>
        <p:spPr>
          <a:xfrm>
            <a:off x="9464040" y="3017520"/>
            <a:ext cx="2377440" cy="1371600"/>
          </a:xfrm>
          <a:prstGeom prst="roundRect">
            <a:avLst>
              <a:gd name="adj" fmla="val 4000"/>
            </a:avLst>
          </a:prstGeom>
          <a:solidFill>
            <a:srgbClr val="F7F9FC"/>
          </a:solidFill>
          <a:ln/>
        </p:spPr>
      </p:sp>
      <p:sp>
        <p:nvSpPr>
          <p:cNvPr id="22" name="Shape 20"/>
          <p:cNvSpPr/>
          <p:nvPr/>
        </p:nvSpPr>
        <p:spPr>
          <a:xfrm>
            <a:off x="9464040" y="3017520"/>
            <a:ext cx="2377440" cy="54864"/>
          </a:xfrm>
          <a:prstGeom prst="rect">
            <a:avLst/>
          </a:prstGeom>
          <a:solidFill>
            <a:srgbClr val="D98E04"/>
          </a:solidFill>
          <a:ln/>
        </p:spPr>
      </p:sp>
      <p:sp>
        <p:nvSpPr>
          <p:cNvPr id="23" name="Text 21"/>
          <p:cNvSpPr/>
          <p:nvPr/>
        </p:nvSpPr>
        <p:spPr>
          <a:xfrm>
            <a:off x="9464040" y="3273552"/>
            <a:ext cx="2377440" cy="640080"/>
          </a:xfrm>
          <a:prstGeom prst="rect">
            <a:avLst/>
          </a:prstGeom>
          <a:noFill/>
          <a:ln/>
        </p:spPr>
        <p:txBody>
          <a:bodyPr wrap="square" rtlCol="0" anchor="ctr"/>
          <a:lstStyle/>
          <a:p>
            <a:pPr algn="ctr" indent="0" marL="0">
              <a:buNone/>
            </a:pPr>
            <a:r>
              <a:rPr lang="en-US" sz="3200" b="1" dirty="0">
                <a:solidFill>
                  <a:srgbClr val="1E2761"/>
                </a:solidFill>
                <a:latin typeface="Cambria" pitchFamily="34" charset="0"/>
                <a:ea typeface="Cambria" pitchFamily="34" charset="-122"/>
                <a:cs typeface="Cambria" pitchFamily="34" charset="-120"/>
              </a:rPr>
              <a:t>16</a:t>
            </a:r>
            <a:endParaRPr lang="en-US" sz="3200" dirty="0"/>
          </a:p>
        </p:txBody>
      </p:sp>
      <p:sp>
        <p:nvSpPr>
          <p:cNvPr id="24" name="Text 22"/>
          <p:cNvSpPr/>
          <p:nvPr/>
        </p:nvSpPr>
        <p:spPr>
          <a:xfrm>
            <a:off x="9464040" y="3913632"/>
            <a:ext cx="2377440" cy="320040"/>
          </a:xfrm>
          <a:prstGeom prst="rect">
            <a:avLst/>
          </a:prstGeom>
          <a:noFill/>
          <a:ln/>
        </p:spPr>
        <p:txBody>
          <a:bodyPr wrap="square" rtlCol="0" anchor="ctr"/>
          <a:lstStyle/>
          <a:p>
            <a:pPr algn="ctr" indent="0" marL="0">
              <a:buNone/>
            </a:pPr>
            <a:r>
              <a:rPr lang="en-US" sz="1200" b="1" spc="70" kern="0" dirty="0">
                <a:solidFill>
                  <a:srgbClr val="4A5568"/>
                </a:solidFill>
                <a:latin typeface="Calibri" pitchFamily="34" charset="0"/>
                <a:ea typeface="Calibri" pitchFamily="34" charset="-122"/>
                <a:cs typeface="Calibri" pitchFamily="34" charset="-120"/>
              </a:rPr>
              <a:t>YEARS OF DATA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1E2761"/>
          </a:solidFill>
          <a:ln/>
        </p:spPr>
      </p:sp>
      <p:sp>
        <p:nvSpPr>
          <p:cNvPr id="3" name="Shape 1"/>
          <p:cNvSpPr/>
          <p:nvPr/>
        </p:nvSpPr>
        <p:spPr>
          <a:xfrm>
            <a:off x="0" y="914400"/>
            <a:ext cx="12188952" cy="50292"/>
          </a:xfrm>
          <a:prstGeom prst="rect">
            <a:avLst/>
          </a:prstGeom>
          <a:solidFill>
            <a:srgbClr val="D98E04"/>
          </a:solidFill>
          <a:ln/>
        </p:spPr>
      </p:sp>
      <p:sp>
        <p:nvSpPr>
          <p:cNvPr id="4" name="Text 2"/>
          <p:cNvSpPr/>
          <p:nvPr/>
        </p:nvSpPr>
        <p:spPr>
          <a:xfrm>
            <a:off x="502920" y="146304"/>
            <a:ext cx="731520" cy="621792"/>
          </a:xfrm>
          <a:prstGeom prst="rect">
            <a:avLst/>
          </a:prstGeom>
          <a:noFill/>
          <a:ln/>
        </p:spPr>
        <p:txBody>
          <a:bodyPr wrap="square" rtlCol="0" anchor="ctr"/>
          <a:lstStyle/>
          <a:p>
            <a:pPr indent="0" marL="0">
              <a:buNone/>
            </a:pPr>
            <a:r>
              <a:rPr lang="en-US" sz="2700" b="1" dirty="0">
                <a:solidFill>
                  <a:srgbClr val="D98E04"/>
                </a:solidFill>
                <a:latin typeface="Cambria" pitchFamily="34" charset="0"/>
                <a:ea typeface="Cambria" pitchFamily="34" charset="-122"/>
                <a:cs typeface="Cambria" pitchFamily="34" charset="-120"/>
              </a:rPr>
              <a:t>01</a:t>
            </a:r>
            <a:endParaRPr lang="en-US" sz="2700" dirty="0"/>
          </a:p>
        </p:txBody>
      </p:sp>
      <p:sp>
        <p:nvSpPr>
          <p:cNvPr id="5" name="Text 3"/>
          <p:cNvSpPr/>
          <p:nvPr/>
        </p:nvSpPr>
        <p:spPr>
          <a:xfrm>
            <a:off x="1325880" y="146304"/>
            <a:ext cx="10332720" cy="621792"/>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WHERE — Which region leads on size, margin and growth?</a:t>
            </a:r>
            <a:endParaRPr lang="en-US" sz="1900" dirty="0"/>
          </a:p>
        </p:txBody>
      </p:sp>
      <p:sp>
        <p:nvSpPr>
          <p:cNvPr id="6" name="Shape 4"/>
          <p:cNvSpPr/>
          <p:nvPr/>
        </p:nvSpPr>
        <p:spPr>
          <a:xfrm>
            <a:off x="502920" y="1417320"/>
            <a:ext cx="50292" cy="1051560"/>
          </a:xfrm>
          <a:prstGeom prst="rect">
            <a:avLst/>
          </a:prstGeom>
          <a:solidFill>
            <a:srgbClr val="1E2761"/>
          </a:solidFill>
          <a:ln/>
        </p:spPr>
      </p:sp>
      <p:sp>
        <p:nvSpPr>
          <p:cNvPr id="7" name="Text 5"/>
          <p:cNvSpPr/>
          <p:nvPr/>
        </p:nvSpPr>
        <p:spPr>
          <a:xfrm>
            <a:off x="713232" y="1371600"/>
            <a:ext cx="2286000" cy="685800"/>
          </a:xfrm>
          <a:prstGeom prst="rect">
            <a:avLst/>
          </a:prstGeom>
          <a:noFill/>
          <a:ln/>
        </p:spPr>
        <p:txBody>
          <a:bodyPr wrap="square"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#1</a:t>
            </a:r>
            <a:endParaRPr lang="en-US" sz="3400" dirty="0"/>
          </a:p>
        </p:txBody>
      </p:sp>
      <p:sp>
        <p:nvSpPr>
          <p:cNvPr id="8" name="Text 6"/>
          <p:cNvSpPr/>
          <p:nvPr/>
        </p:nvSpPr>
        <p:spPr>
          <a:xfrm>
            <a:off x="731520" y="2039112"/>
            <a:ext cx="2286000" cy="320040"/>
          </a:xfrm>
          <a:prstGeom prst="rect">
            <a:avLst/>
          </a:prstGeom>
          <a:noFill/>
          <a:ln/>
        </p:spPr>
        <p:txBody>
          <a:bodyPr wrap="square" rtlCol="0" anchor="ctr"/>
          <a:lstStyle/>
          <a:p>
            <a:pPr indent="0" marL="0">
              <a:buNone/>
            </a:pPr>
            <a:r>
              <a:rPr lang="en-US" sz="1200" b="1" spc="70" kern="0" dirty="0">
                <a:solidFill>
                  <a:srgbClr val="4A5568"/>
                </a:solidFill>
                <a:latin typeface="Calibri" pitchFamily="34" charset="0"/>
                <a:ea typeface="Calibri" pitchFamily="34" charset="-122"/>
                <a:cs typeface="Calibri" pitchFamily="34" charset="-120"/>
              </a:rPr>
              <a:t>REVENUE RANK</a:t>
            </a:r>
            <a:endParaRPr lang="en-US" sz="1200" dirty="0"/>
          </a:p>
        </p:txBody>
      </p:sp>
      <p:sp>
        <p:nvSpPr>
          <p:cNvPr id="9" name="Shape 7"/>
          <p:cNvSpPr/>
          <p:nvPr/>
        </p:nvSpPr>
        <p:spPr>
          <a:xfrm>
            <a:off x="502920" y="2743200"/>
            <a:ext cx="50292" cy="1051560"/>
          </a:xfrm>
          <a:prstGeom prst="rect">
            <a:avLst/>
          </a:prstGeom>
          <a:solidFill>
            <a:srgbClr val="D98E04"/>
          </a:solidFill>
          <a:ln/>
        </p:spPr>
      </p:sp>
      <p:sp>
        <p:nvSpPr>
          <p:cNvPr id="10" name="Text 8"/>
          <p:cNvSpPr/>
          <p:nvPr/>
        </p:nvSpPr>
        <p:spPr>
          <a:xfrm>
            <a:off x="713232" y="2697480"/>
            <a:ext cx="2286000" cy="685800"/>
          </a:xfrm>
          <a:prstGeom prst="rect">
            <a:avLst/>
          </a:prstGeom>
          <a:noFill/>
          <a:ln/>
        </p:spPr>
        <p:txBody>
          <a:bodyPr wrap="square" rtlCol="0" anchor="ctr"/>
          <a:lstStyle/>
          <a:p>
            <a:pPr indent="0" marL="0">
              <a:buNone/>
            </a:pPr>
            <a:r>
              <a:rPr lang="en-US" sz="3400" b="1" dirty="0">
                <a:solidFill>
                  <a:srgbClr val="D98E04"/>
                </a:solidFill>
                <a:latin typeface="Cambria" pitchFamily="34" charset="0"/>
                <a:ea typeface="Cambria" pitchFamily="34" charset="-122"/>
                <a:cs typeface="Cambria" pitchFamily="34" charset="-120"/>
              </a:rPr>
              <a:t>8.1%</a:t>
            </a:r>
            <a:endParaRPr lang="en-US" sz="3400" dirty="0"/>
          </a:p>
        </p:txBody>
      </p:sp>
      <p:sp>
        <p:nvSpPr>
          <p:cNvPr id="11" name="Text 9"/>
          <p:cNvSpPr/>
          <p:nvPr/>
        </p:nvSpPr>
        <p:spPr>
          <a:xfrm>
            <a:off x="731520" y="3364992"/>
            <a:ext cx="2286000" cy="320040"/>
          </a:xfrm>
          <a:prstGeom prst="rect">
            <a:avLst/>
          </a:prstGeom>
          <a:noFill/>
          <a:ln/>
        </p:spPr>
        <p:txBody>
          <a:bodyPr wrap="square" rtlCol="0" anchor="ctr"/>
          <a:lstStyle/>
          <a:p>
            <a:pPr indent="0" marL="0">
              <a:buNone/>
            </a:pPr>
            <a:r>
              <a:rPr lang="en-US" sz="1200" b="1" spc="70" kern="0" dirty="0">
                <a:solidFill>
                  <a:srgbClr val="4A5568"/>
                </a:solidFill>
                <a:latin typeface="Calibri" pitchFamily="34" charset="0"/>
                <a:ea typeface="Calibri" pitchFamily="34" charset="-122"/>
                <a:cs typeface="Calibri" pitchFamily="34" charset="-120"/>
              </a:rPr>
              <a:t>AVG. MARGIN</a:t>
            </a:r>
            <a:endParaRPr lang="en-US" sz="1200" dirty="0"/>
          </a:p>
        </p:txBody>
      </p:sp>
      <p:sp>
        <p:nvSpPr>
          <p:cNvPr id="12" name="Shape 10"/>
          <p:cNvSpPr/>
          <p:nvPr/>
        </p:nvSpPr>
        <p:spPr>
          <a:xfrm>
            <a:off x="502920" y="4069080"/>
            <a:ext cx="50292" cy="1051560"/>
          </a:xfrm>
          <a:prstGeom prst="rect">
            <a:avLst/>
          </a:prstGeom>
          <a:solidFill>
            <a:srgbClr val="1E2761"/>
          </a:solidFill>
          <a:ln/>
        </p:spPr>
      </p:sp>
      <p:sp>
        <p:nvSpPr>
          <p:cNvPr id="13" name="Text 11"/>
          <p:cNvSpPr/>
          <p:nvPr/>
        </p:nvSpPr>
        <p:spPr>
          <a:xfrm>
            <a:off x="713232" y="4023360"/>
            <a:ext cx="2286000" cy="685800"/>
          </a:xfrm>
          <a:prstGeom prst="rect">
            <a:avLst/>
          </a:prstGeom>
          <a:noFill/>
          <a:ln/>
        </p:spPr>
        <p:txBody>
          <a:bodyPr wrap="square"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5.9%</a:t>
            </a:r>
            <a:endParaRPr lang="en-US" sz="3400" dirty="0"/>
          </a:p>
        </p:txBody>
      </p:sp>
      <p:sp>
        <p:nvSpPr>
          <p:cNvPr id="14" name="Text 12"/>
          <p:cNvSpPr/>
          <p:nvPr/>
        </p:nvSpPr>
        <p:spPr>
          <a:xfrm>
            <a:off x="731520" y="4690872"/>
            <a:ext cx="2286000" cy="320040"/>
          </a:xfrm>
          <a:prstGeom prst="rect">
            <a:avLst/>
          </a:prstGeom>
          <a:noFill/>
          <a:ln/>
        </p:spPr>
        <p:txBody>
          <a:bodyPr wrap="square" rtlCol="0" anchor="ctr"/>
          <a:lstStyle/>
          <a:p>
            <a:pPr indent="0" marL="0">
              <a:buNone/>
            </a:pPr>
            <a:r>
              <a:rPr lang="en-US" sz="1200" b="1" spc="70" kern="0" dirty="0">
                <a:solidFill>
                  <a:srgbClr val="4A5568"/>
                </a:solidFill>
                <a:latin typeface="Calibri" pitchFamily="34" charset="0"/>
                <a:ea typeface="Calibri" pitchFamily="34" charset="-122"/>
                <a:cs typeface="Calibri" pitchFamily="34" charset="-120"/>
              </a:rPr>
              <a:t>ANNUAL GROWTH</a:t>
            </a:r>
            <a:endParaRPr lang="en-US" sz="1200" dirty="0"/>
          </a:p>
        </p:txBody>
      </p:sp>
      <p:graphicFrame>
        <p:nvGraphicFramePr>
          <p:cNvPr id="15" name="Chart 0" descr=""/>
          <p:cNvGraphicFramePr/>
          <p:nvPr/>
        </p:nvGraphicFramePr>
        <p:xfrm>
          <a:off x="3200400" y="1325880"/>
          <a:ext cx="8503920" cy="4206240"/>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0" y="5806440"/>
            <a:ext cx="12188952" cy="1051560"/>
          </a:xfrm>
          <a:prstGeom prst="rect">
            <a:avLst/>
          </a:prstGeom>
          <a:solidFill>
            <a:srgbClr val="F7F9FC"/>
          </a:solidFill>
          <a:ln/>
        </p:spPr>
      </p:sp>
      <p:sp>
        <p:nvSpPr>
          <p:cNvPr id="17" name="Shape 14"/>
          <p:cNvSpPr/>
          <p:nvPr/>
        </p:nvSpPr>
        <p:spPr>
          <a:xfrm>
            <a:off x="0" y="5806440"/>
            <a:ext cx="146304" cy="1051560"/>
          </a:xfrm>
          <a:prstGeom prst="rect">
            <a:avLst/>
          </a:prstGeom>
          <a:solidFill>
            <a:srgbClr val="D98E04"/>
          </a:solidFill>
          <a:ln/>
        </p:spPr>
      </p:sp>
      <p:sp>
        <p:nvSpPr>
          <p:cNvPr id="18" name="Text 15"/>
          <p:cNvSpPr/>
          <p:nvPr/>
        </p:nvSpPr>
        <p:spPr>
          <a:xfrm>
            <a:off x="502920" y="5897880"/>
            <a:ext cx="2194560" cy="292608"/>
          </a:xfrm>
          <a:prstGeom prst="rect">
            <a:avLst/>
          </a:prstGeom>
          <a:noFill/>
          <a:ln/>
        </p:spPr>
        <p:txBody>
          <a:bodyPr wrap="square" rtlCol="0" anchor="ctr"/>
          <a:lstStyle/>
          <a:p>
            <a:pPr indent="0" marL="0">
              <a:buNone/>
            </a:pPr>
            <a:r>
              <a:rPr lang="en-US" sz="1250" b="1" spc="80" kern="0" dirty="0">
                <a:solidFill>
                  <a:srgbClr val="D98E04"/>
                </a:solidFill>
                <a:latin typeface="Calibri" pitchFamily="34" charset="0"/>
                <a:ea typeface="Calibri" pitchFamily="34" charset="-122"/>
                <a:cs typeface="Calibri" pitchFamily="34" charset="-120"/>
              </a:rPr>
              <a:t>TAKEAWAY</a:t>
            </a:r>
            <a:endParaRPr lang="en-US" sz="1250" dirty="0"/>
          </a:p>
        </p:txBody>
      </p:sp>
      <p:sp>
        <p:nvSpPr>
          <p:cNvPr id="19" name="Text 16"/>
          <p:cNvSpPr/>
          <p:nvPr/>
        </p:nvSpPr>
        <p:spPr>
          <a:xfrm>
            <a:off x="502920" y="6199632"/>
            <a:ext cx="11155680" cy="502920"/>
          </a:xfrm>
          <a:prstGeom prst="rect">
            <a:avLst/>
          </a:prstGeom>
          <a:noFill/>
          <a:ln/>
        </p:spPr>
        <p:txBody>
          <a:bodyPr wrap="square" rtlCol="0" anchor="ctr"/>
          <a:lstStyle/>
          <a:p>
            <a:pPr indent="0" marL="0">
              <a:buNone/>
            </a:pPr>
            <a:r>
              <a:rPr lang="en-US" sz="1750" dirty="0">
                <a:solidFill>
                  <a:srgbClr val="1E2761"/>
                </a:solidFill>
                <a:latin typeface="Calibri" pitchFamily="34" charset="0"/>
                <a:ea typeface="Calibri" pitchFamily="34" charset="-122"/>
                <a:cs typeface="Calibri" pitchFamily="34" charset="-120"/>
              </a:rPr>
              <a:t>North America leads on all three measures — largest revenue, highest margin (8.1% vs 7.3% Europe), and fastest growth (5.9%/yr). The investment case starts here.</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1E2761"/>
          </a:solidFill>
          <a:ln/>
        </p:spPr>
      </p:sp>
      <p:sp>
        <p:nvSpPr>
          <p:cNvPr id="3" name="Shape 1"/>
          <p:cNvSpPr/>
          <p:nvPr/>
        </p:nvSpPr>
        <p:spPr>
          <a:xfrm>
            <a:off x="0" y="914400"/>
            <a:ext cx="12188952" cy="50292"/>
          </a:xfrm>
          <a:prstGeom prst="rect">
            <a:avLst/>
          </a:prstGeom>
          <a:solidFill>
            <a:srgbClr val="D98E04"/>
          </a:solidFill>
          <a:ln/>
        </p:spPr>
      </p:sp>
      <p:sp>
        <p:nvSpPr>
          <p:cNvPr id="4" name="Text 2"/>
          <p:cNvSpPr/>
          <p:nvPr/>
        </p:nvSpPr>
        <p:spPr>
          <a:xfrm>
            <a:off x="502920" y="146304"/>
            <a:ext cx="731520" cy="621792"/>
          </a:xfrm>
          <a:prstGeom prst="rect">
            <a:avLst/>
          </a:prstGeom>
          <a:noFill/>
          <a:ln/>
        </p:spPr>
        <p:txBody>
          <a:bodyPr wrap="square" rtlCol="0" anchor="ctr"/>
          <a:lstStyle/>
          <a:p>
            <a:pPr indent="0" marL="0">
              <a:buNone/>
            </a:pPr>
            <a:r>
              <a:rPr lang="en-US" sz="2700" b="1" dirty="0">
                <a:solidFill>
                  <a:srgbClr val="D98E04"/>
                </a:solidFill>
                <a:latin typeface="Cambria" pitchFamily="34" charset="0"/>
                <a:ea typeface="Cambria" pitchFamily="34" charset="-122"/>
                <a:cs typeface="Cambria" pitchFamily="34" charset="-120"/>
              </a:rPr>
              <a:t>02</a:t>
            </a:r>
            <a:endParaRPr lang="en-US" sz="2700" dirty="0"/>
          </a:p>
        </p:txBody>
      </p:sp>
      <p:sp>
        <p:nvSpPr>
          <p:cNvPr id="5" name="Text 3"/>
          <p:cNvSpPr/>
          <p:nvPr/>
        </p:nvSpPr>
        <p:spPr>
          <a:xfrm>
            <a:off x="1325880" y="146304"/>
            <a:ext cx="10332720" cy="621792"/>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WHAT — Legacy or low-cost: which model performs better?</a:t>
            </a:r>
            <a:endParaRPr lang="en-US" sz="1900" dirty="0"/>
          </a:p>
        </p:txBody>
      </p:sp>
      <p:sp>
        <p:nvSpPr>
          <p:cNvPr id="6" name="Shape 4"/>
          <p:cNvSpPr/>
          <p:nvPr/>
        </p:nvSpPr>
        <p:spPr>
          <a:xfrm>
            <a:off x="502920" y="1417320"/>
            <a:ext cx="50292" cy="1051560"/>
          </a:xfrm>
          <a:prstGeom prst="rect">
            <a:avLst/>
          </a:prstGeom>
          <a:solidFill>
            <a:srgbClr val="1E2761"/>
          </a:solidFill>
          <a:ln/>
        </p:spPr>
      </p:sp>
      <p:sp>
        <p:nvSpPr>
          <p:cNvPr id="7" name="Text 5"/>
          <p:cNvSpPr/>
          <p:nvPr/>
        </p:nvSpPr>
        <p:spPr>
          <a:xfrm>
            <a:off x="713232" y="1371600"/>
            <a:ext cx="2286000" cy="685800"/>
          </a:xfrm>
          <a:prstGeom prst="rect">
            <a:avLst/>
          </a:prstGeom>
          <a:noFill/>
          <a:ln/>
        </p:spPr>
        <p:txBody>
          <a:bodyPr wrap="square"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3.5×</a:t>
            </a:r>
            <a:endParaRPr lang="en-US" sz="3400" dirty="0"/>
          </a:p>
        </p:txBody>
      </p:sp>
      <p:sp>
        <p:nvSpPr>
          <p:cNvPr id="8" name="Text 6"/>
          <p:cNvSpPr/>
          <p:nvPr/>
        </p:nvSpPr>
        <p:spPr>
          <a:xfrm>
            <a:off x="731520" y="2039112"/>
            <a:ext cx="2286000" cy="320040"/>
          </a:xfrm>
          <a:prstGeom prst="rect">
            <a:avLst/>
          </a:prstGeom>
          <a:noFill/>
          <a:ln/>
        </p:spPr>
        <p:txBody>
          <a:bodyPr wrap="square" rtlCol="0" anchor="ctr"/>
          <a:lstStyle/>
          <a:p>
            <a:pPr indent="0" marL="0">
              <a:buNone/>
            </a:pPr>
            <a:r>
              <a:rPr lang="en-US" sz="1200" b="1" spc="70" kern="0" dirty="0">
                <a:solidFill>
                  <a:srgbClr val="4A5568"/>
                </a:solidFill>
                <a:latin typeface="Calibri" pitchFamily="34" charset="0"/>
                <a:ea typeface="Calibri" pitchFamily="34" charset="-122"/>
                <a:cs typeface="Calibri" pitchFamily="34" charset="-120"/>
              </a:rPr>
              <a:t>LEGACY REVENUE LEAD</a:t>
            </a:r>
            <a:endParaRPr lang="en-US" sz="1200" dirty="0"/>
          </a:p>
        </p:txBody>
      </p:sp>
      <p:sp>
        <p:nvSpPr>
          <p:cNvPr id="9" name="Shape 7"/>
          <p:cNvSpPr/>
          <p:nvPr/>
        </p:nvSpPr>
        <p:spPr>
          <a:xfrm>
            <a:off x="502920" y="2743200"/>
            <a:ext cx="50292" cy="1051560"/>
          </a:xfrm>
          <a:prstGeom prst="rect">
            <a:avLst/>
          </a:prstGeom>
          <a:solidFill>
            <a:srgbClr val="D98E04"/>
          </a:solidFill>
          <a:ln/>
        </p:spPr>
      </p:sp>
      <p:sp>
        <p:nvSpPr>
          <p:cNvPr id="10" name="Text 8"/>
          <p:cNvSpPr/>
          <p:nvPr/>
        </p:nvSpPr>
        <p:spPr>
          <a:xfrm>
            <a:off x="713232" y="2697480"/>
            <a:ext cx="2286000" cy="685800"/>
          </a:xfrm>
          <a:prstGeom prst="rect">
            <a:avLst/>
          </a:prstGeom>
          <a:noFill/>
          <a:ln/>
        </p:spPr>
        <p:txBody>
          <a:bodyPr wrap="square" rtlCol="0" anchor="ctr"/>
          <a:lstStyle/>
          <a:p>
            <a:pPr indent="0" marL="0">
              <a:buNone/>
            </a:pPr>
            <a:r>
              <a:rPr lang="en-US" sz="3400" b="1" dirty="0">
                <a:solidFill>
                  <a:srgbClr val="D98E04"/>
                </a:solidFill>
                <a:latin typeface="Cambria" pitchFamily="34" charset="0"/>
                <a:ea typeface="Cambria" pitchFamily="34" charset="-122"/>
                <a:cs typeface="Cambria" pitchFamily="34" charset="-120"/>
              </a:rPr>
              <a:t>10.4%</a:t>
            </a:r>
            <a:endParaRPr lang="en-US" sz="3400" dirty="0"/>
          </a:p>
        </p:txBody>
      </p:sp>
      <p:sp>
        <p:nvSpPr>
          <p:cNvPr id="11" name="Text 9"/>
          <p:cNvSpPr/>
          <p:nvPr/>
        </p:nvSpPr>
        <p:spPr>
          <a:xfrm>
            <a:off x="731520" y="3364992"/>
            <a:ext cx="2286000" cy="320040"/>
          </a:xfrm>
          <a:prstGeom prst="rect">
            <a:avLst/>
          </a:prstGeom>
          <a:noFill/>
          <a:ln/>
        </p:spPr>
        <p:txBody>
          <a:bodyPr wrap="square" rtlCol="0" anchor="ctr"/>
          <a:lstStyle/>
          <a:p>
            <a:pPr indent="0" marL="0">
              <a:buNone/>
            </a:pPr>
            <a:r>
              <a:rPr lang="en-US" sz="1200" b="1" spc="70" kern="0" dirty="0">
                <a:solidFill>
                  <a:srgbClr val="4A5568"/>
                </a:solidFill>
                <a:latin typeface="Calibri" pitchFamily="34" charset="0"/>
                <a:ea typeface="Calibri" pitchFamily="34" charset="-122"/>
                <a:cs typeface="Calibri" pitchFamily="34" charset="-120"/>
              </a:rPr>
              <a:t>LOW-COST MARGIN</a:t>
            </a:r>
            <a:endParaRPr lang="en-US" sz="1200" dirty="0"/>
          </a:p>
        </p:txBody>
      </p:sp>
      <p:sp>
        <p:nvSpPr>
          <p:cNvPr id="12" name="Shape 10"/>
          <p:cNvSpPr/>
          <p:nvPr/>
        </p:nvSpPr>
        <p:spPr>
          <a:xfrm>
            <a:off x="502920" y="4069080"/>
            <a:ext cx="50292" cy="1051560"/>
          </a:xfrm>
          <a:prstGeom prst="rect">
            <a:avLst/>
          </a:prstGeom>
          <a:solidFill>
            <a:srgbClr val="3B5BA5"/>
          </a:solidFill>
          <a:ln/>
        </p:spPr>
      </p:sp>
      <p:sp>
        <p:nvSpPr>
          <p:cNvPr id="13" name="Text 11"/>
          <p:cNvSpPr/>
          <p:nvPr/>
        </p:nvSpPr>
        <p:spPr>
          <a:xfrm>
            <a:off x="713232" y="4023360"/>
            <a:ext cx="2286000" cy="685800"/>
          </a:xfrm>
          <a:prstGeom prst="rect">
            <a:avLst/>
          </a:prstGeom>
          <a:noFill/>
          <a:ln/>
        </p:spPr>
        <p:txBody>
          <a:bodyPr wrap="square" rtlCol="0" anchor="ctr"/>
          <a:lstStyle/>
          <a:p>
            <a:pPr indent="0" marL="0">
              <a:buNone/>
            </a:pPr>
            <a:r>
              <a:rPr lang="en-US" sz="3400" b="1" dirty="0">
                <a:solidFill>
                  <a:srgbClr val="3B5BA5"/>
                </a:solidFill>
                <a:latin typeface="Cambria" pitchFamily="34" charset="0"/>
                <a:ea typeface="Cambria" pitchFamily="34" charset="-122"/>
                <a:cs typeface="Cambria" pitchFamily="34" charset="-120"/>
              </a:rPr>
              <a:t>5.7%</a:t>
            </a:r>
            <a:endParaRPr lang="en-US" sz="3400" dirty="0"/>
          </a:p>
        </p:txBody>
      </p:sp>
      <p:sp>
        <p:nvSpPr>
          <p:cNvPr id="14" name="Text 12"/>
          <p:cNvSpPr/>
          <p:nvPr/>
        </p:nvSpPr>
        <p:spPr>
          <a:xfrm>
            <a:off x="731520" y="4690872"/>
            <a:ext cx="2286000" cy="320040"/>
          </a:xfrm>
          <a:prstGeom prst="rect">
            <a:avLst/>
          </a:prstGeom>
          <a:noFill/>
          <a:ln/>
        </p:spPr>
        <p:txBody>
          <a:bodyPr wrap="square" rtlCol="0" anchor="ctr"/>
          <a:lstStyle/>
          <a:p>
            <a:pPr indent="0" marL="0">
              <a:buNone/>
            </a:pPr>
            <a:r>
              <a:rPr lang="en-US" sz="1200" b="1" spc="70" kern="0" dirty="0">
                <a:solidFill>
                  <a:srgbClr val="4A5568"/>
                </a:solidFill>
                <a:latin typeface="Calibri" pitchFamily="34" charset="0"/>
                <a:ea typeface="Calibri" pitchFamily="34" charset="-122"/>
                <a:cs typeface="Calibri" pitchFamily="34" charset="-120"/>
              </a:rPr>
              <a:t>LEGACY MARGIN</a:t>
            </a:r>
            <a:endParaRPr lang="en-US" sz="1200" dirty="0"/>
          </a:p>
        </p:txBody>
      </p:sp>
      <p:graphicFrame>
        <p:nvGraphicFramePr>
          <p:cNvPr id="15" name="Chart 0" descr=""/>
          <p:cNvGraphicFramePr/>
          <p:nvPr/>
        </p:nvGraphicFramePr>
        <p:xfrm>
          <a:off x="3200400" y="1325880"/>
          <a:ext cx="8503920" cy="4206240"/>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0" y="5806440"/>
            <a:ext cx="12188952" cy="1051560"/>
          </a:xfrm>
          <a:prstGeom prst="rect">
            <a:avLst/>
          </a:prstGeom>
          <a:solidFill>
            <a:srgbClr val="F7F9FC"/>
          </a:solidFill>
          <a:ln/>
        </p:spPr>
      </p:sp>
      <p:sp>
        <p:nvSpPr>
          <p:cNvPr id="17" name="Shape 14"/>
          <p:cNvSpPr/>
          <p:nvPr/>
        </p:nvSpPr>
        <p:spPr>
          <a:xfrm>
            <a:off x="0" y="5806440"/>
            <a:ext cx="146304" cy="1051560"/>
          </a:xfrm>
          <a:prstGeom prst="rect">
            <a:avLst/>
          </a:prstGeom>
          <a:solidFill>
            <a:srgbClr val="D98E04"/>
          </a:solidFill>
          <a:ln/>
        </p:spPr>
      </p:sp>
      <p:sp>
        <p:nvSpPr>
          <p:cNvPr id="18" name="Text 15"/>
          <p:cNvSpPr/>
          <p:nvPr/>
        </p:nvSpPr>
        <p:spPr>
          <a:xfrm>
            <a:off x="502920" y="5897880"/>
            <a:ext cx="2194560" cy="292608"/>
          </a:xfrm>
          <a:prstGeom prst="rect">
            <a:avLst/>
          </a:prstGeom>
          <a:noFill/>
          <a:ln/>
        </p:spPr>
        <p:txBody>
          <a:bodyPr wrap="square" rtlCol="0" anchor="ctr"/>
          <a:lstStyle/>
          <a:p>
            <a:pPr indent="0" marL="0">
              <a:buNone/>
            </a:pPr>
            <a:r>
              <a:rPr lang="en-US" sz="1250" b="1" spc="80" kern="0" dirty="0">
                <a:solidFill>
                  <a:srgbClr val="D98E04"/>
                </a:solidFill>
                <a:latin typeface="Calibri" pitchFamily="34" charset="0"/>
                <a:ea typeface="Calibri" pitchFamily="34" charset="-122"/>
                <a:cs typeface="Calibri" pitchFamily="34" charset="-120"/>
              </a:rPr>
              <a:t>TAKEAWAY</a:t>
            </a:r>
            <a:endParaRPr lang="en-US" sz="1250" dirty="0"/>
          </a:p>
        </p:txBody>
      </p:sp>
      <p:sp>
        <p:nvSpPr>
          <p:cNvPr id="19" name="Text 16"/>
          <p:cNvSpPr/>
          <p:nvPr/>
        </p:nvSpPr>
        <p:spPr>
          <a:xfrm>
            <a:off x="502920" y="6199632"/>
            <a:ext cx="11155680" cy="502920"/>
          </a:xfrm>
          <a:prstGeom prst="rect">
            <a:avLst/>
          </a:prstGeom>
          <a:noFill/>
          <a:ln/>
        </p:spPr>
        <p:txBody>
          <a:bodyPr wrap="square" rtlCol="0" anchor="ctr"/>
          <a:lstStyle/>
          <a:p>
            <a:pPr indent="0" marL="0">
              <a:buNone/>
            </a:pPr>
            <a:r>
              <a:rPr lang="en-US" sz="1750" dirty="0">
                <a:solidFill>
                  <a:srgbClr val="1E2761"/>
                </a:solidFill>
                <a:latin typeface="Calibri" pitchFamily="34" charset="0"/>
                <a:ea typeface="Calibri" pitchFamily="34" charset="-122"/>
                <a:cs typeface="Calibri" pitchFamily="34" charset="-120"/>
              </a:rPr>
              <a:t>Legacy carriers earn 3.5× more revenue — but low-cost carriers are nearly twice as profitable per dollar (10.4% vs 5.7% margin). Size and profitability point different ways.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1E2761"/>
          </a:solidFill>
          <a:ln/>
        </p:spPr>
      </p:sp>
      <p:sp>
        <p:nvSpPr>
          <p:cNvPr id="3" name="Shape 1"/>
          <p:cNvSpPr/>
          <p:nvPr/>
        </p:nvSpPr>
        <p:spPr>
          <a:xfrm>
            <a:off x="0" y="914400"/>
            <a:ext cx="12188952" cy="50292"/>
          </a:xfrm>
          <a:prstGeom prst="rect">
            <a:avLst/>
          </a:prstGeom>
          <a:solidFill>
            <a:srgbClr val="D98E04"/>
          </a:solidFill>
          <a:ln/>
        </p:spPr>
      </p:sp>
      <p:sp>
        <p:nvSpPr>
          <p:cNvPr id="4" name="Text 2"/>
          <p:cNvSpPr/>
          <p:nvPr/>
        </p:nvSpPr>
        <p:spPr>
          <a:xfrm>
            <a:off x="502920" y="146304"/>
            <a:ext cx="731520" cy="621792"/>
          </a:xfrm>
          <a:prstGeom prst="rect">
            <a:avLst/>
          </a:prstGeom>
          <a:noFill/>
          <a:ln/>
        </p:spPr>
        <p:txBody>
          <a:bodyPr wrap="square" rtlCol="0" anchor="ctr"/>
          <a:lstStyle/>
          <a:p>
            <a:pPr indent="0" marL="0">
              <a:buNone/>
            </a:pPr>
            <a:r>
              <a:rPr lang="en-US" sz="2700" b="1" dirty="0">
                <a:solidFill>
                  <a:srgbClr val="D98E04"/>
                </a:solidFill>
                <a:latin typeface="Cambria" pitchFamily="34" charset="0"/>
                <a:ea typeface="Cambria" pitchFamily="34" charset="-122"/>
                <a:cs typeface="Cambria" pitchFamily="34" charset="-120"/>
              </a:rPr>
              <a:t>03</a:t>
            </a:r>
            <a:endParaRPr lang="en-US" sz="2700" dirty="0"/>
          </a:p>
        </p:txBody>
      </p:sp>
      <p:sp>
        <p:nvSpPr>
          <p:cNvPr id="5" name="Text 3"/>
          <p:cNvSpPr/>
          <p:nvPr/>
        </p:nvSpPr>
        <p:spPr>
          <a:xfrm>
            <a:off x="1325880" y="146304"/>
            <a:ext cx="10332720" cy="621792"/>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WHEN — How fast does the market recover from a shock?</a:t>
            </a:r>
            <a:endParaRPr lang="en-US" sz="1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766560" cy="4114800"/>
        </p:xfrm>
        <a:graphic>
          <a:graphicData uri="http://schemas.openxmlformats.org/drawingml/2006/table">
            <a:tbl>
              <a:tblPr/>
              <a:tblGrid>
                <a:gridCol w="1188720"/>
                <a:gridCol w="1737360"/>
                <a:gridCol w="1371600"/>
                <a:gridCol w="2468880"/>
              </a:tblGrid>
              <a:tr h="548640">
                <a:tc>
                  <a:txBody>
                    <a:bodyPr/>
                    <a:lstStyle/>
                    <a:p>
                      <a:pPr algn="ctr" indent="0" marL="0">
                        <a:buNone/>
                      </a:pPr>
                      <a:r>
                        <a:rPr lang="en-US" sz="1450" b="1" dirty="0">
                          <a:solidFill>
                            <a:srgbClr val="FFFFFF"/>
                          </a:solidFill>
                        </a:rPr>
                        <a:t>Year</a:t>
                      </a:r>
                      <a:endParaRPr lang="en-US" sz="145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1E2761"/>
                    </a:solidFill>
                  </a:tcPr>
                </a:tc>
                <a:tc>
                  <a:txBody>
                    <a:bodyPr/>
                    <a:lstStyle/>
                    <a:p>
                      <a:pPr algn="ctr" indent="0" marL="0">
                        <a:buNone/>
                      </a:pPr>
                      <a:r>
                        <a:rPr lang="en-US" sz="1450" b="1" dirty="0">
                          <a:solidFill>
                            <a:srgbClr val="FFFFFF"/>
                          </a:solidFill>
                        </a:rPr>
                        <a:t>Avg. Revenue</a:t>
                      </a:r>
                      <a:endParaRPr lang="en-US" sz="145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1E2761"/>
                    </a:solidFill>
                  </a:tcPr>
                </a:tc>
                <a:tc>
                  <a:txBody>
                    <a:bodyPr/>
                    <a:lstStyle/>
                    <a:p>
                      <a:pPr algn="ctr" indent="0" marL="0">
                        <a:buNone/>
                      </a:pPr>
                      <a:r>
                        <a:rPr lang="en-US" sz="1450" b="1" dirty="0">
                          <a:solidFill>
                            <a:srgbClr val="FFFFFF"/>
                          </a:solidFill>
                        </a:rPr>
                        <a:t>Change</a:t>
                      </a:r>
                      <a:endParaRPr lang="en-US" sz="145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1E2761"/>
                    </a:solidFill>
                  </a:tcPr>
                </a:tc>
                <a:tc>
                  <a:txBody>
                    <a:bodyPr/>
                    <a:lstStyle/>
                    <a:p>
                      <a:pPr algn="l" indent="0" marL="0">
                        <a:buNone/>
                      </a:pPr>
                      <a:r>
                        <a:rPr lang="en-US" sz="1450" b="1" dirty="0">
                          <a:solidFill>
                            <a:srgbClr val="FFFFFF"/>
                          </a:solidFill>
                        </a:rPr>
                        <a:t>Phase</a:t>
                      </a:r>
                      <a:endParaRPr lang="en-US" sz="145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1E2761"/>
                    </a:solidFill>
                  </a:tcPr>
                </a:tc>
              </a:tr>
              <a:tr h="530352">
                <a:tc>
                  <a:txBody>
                    <a:bodyPr/>
                    <a:lstStyle/>
                    <a:p>
                      <a:pPr algn="ctr" indent="0" marL="0">
                        <a:buNone/>
                      </a:pPr>
                      <a:r>
                        <a:rPr lang="en-US" sz="1700" b="1" dirty="0">
                          <a:solidFill>
                            <a:srgbClr val="1E2761"/>
                          </a:solidFill>
                        </a:rPr>
                        <a:t>2019</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4A5568"/>
                          </a:solidFill>
                        </a:rPr>
                        <a:t>$29.4B</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2E7D5B"/>
                          </a:solidFill>
                        </a:rPr>
                        <a:t>+3.6%</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FFFFF"/>
                    </a:solidFill>
                  </a:tcPr>
                </a:tc>
                <a:tc>
                  <a:txBody>
                    <a:bodyPr/>
                    <a:lstStyle/>
                    <a:p>
                      <a:pPr algn="l" indent="0" marL="0">
                        <a:buNone/>
                      </a:pPr>
                      <a:r>
                        <a:rPr lang="en-US" sz="1700" dirty="0">
                          <a:solidFill>
                            <a:srgbClr val="4A5568"/>
                          </a:solidFill>
                        </a:rPr>
                        <a:t>Pre-COVID peak</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FFFFF"/>
                    </a:solidFill>
                  </a:tcPr>
                </a:tc>
              </a:tr>
              <a:tr h="530352">
                <a:tc>
                  <a:txBody>
                    <a:bodyPr/>
                    <a:lstStyle/>
                    <a:p>
                      <a:pPr algn="ctr" indent="0" marL="0">
                        <a:buNone/>
                      </a:pPr>
                      <a:r>
                        <a:rPr lang="en-US" sz="1700" b="1" dirty="0">
                          <a:solidFill>
                            <a:srgbClr val="1E2761"/>
                          </a:solidFill>
                        </a:rPr>
                        <a:t>2020</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CEBEB"/>
                    </a:solidFill>
                  </a:tcPr>
                </a:tc>
                <a:tc>
                  <a:txBody>
                    <a:bodyPr/>
                    <a:lstStyle/>
                    <a:p>
                      <a:pPr algn="ctr" indent="0" marL="0">
                        <a:buNone/>
                      </a:pPr>
                      <a:r>
                        <a:rPr lang="en-US" sz="1700" dirty="0">
                          <a:solidFill>
                            <a:srgbClr val="4A5568"/>
                          </a:solidFill>
                        </a:rPr>
                        <a:t>$11.1B</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CEBEB"/>
                    </a:solidFill>
                  </a:tcPr>
                </a:tc>
                <a:tc>
                  <a:txBody>
                    <a:bodyPr/>
                    <a:lstStyle/>
                    <a:p>
                      <a:pPr algn="ctr" indent="0" marL="0">
                        <a:buNone/>
                      </a:pPr>
                      <a:r>
                        <a:rPr lang="en-US" sz="1700" b="1" dirty="0">
                          <a:solidFill>
                            <a:srgbClr val="B23A3A"/>
                          </a:solidFill>
                        </a:rPr>
                        <a:t>-62.2%</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CEBEB"/>
                    </a:solidFill>
                  </a:tcPr>
                </a:tc>
                <a:tc>
                  <a:txBody>
                    <a:bodyPr/>
                    <a:lstStyle/>
                    <a:p>
                      <a:pPr algn="l" indent="0" marL="0">
                        <a:buNone/>
                      </a:pPr>
                      <a:r>
                        <a:rPr lang="en-US" sz="1700" dirty="0">
                          <a:solidFill>
                            <a:srgbClr val="4A5568"/>
                          </a:solidFill>
                        </a:rPr>
                        <a:t>Collapse</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CEBEB"/>
                    </a:solidFill>
                  </a:tcPr>
                </a:tc>
              </a:tr>
              <a:tr h="530352">
                <a:tc>
                  <a:txBody>
                    <a:bodyPr/>
                    <a:lstStyle/>
                    <a:p>
                      <a:pPr algn="ctr" indent="0" marL="0">
                        <a:buNone/>
                      </a:pPr>
                      <a:r>
                        <a:rPr lang="en-US" sz="1700" b="1" dirty="0">
                          <a:solidFill>
                            <a:srgbClr val="1E2761"/>
                          </a:solidFill>
                        </a:rPr>
                        <a:t>2021</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DF3E0"/>
                    </a:solidFill>
                  </a:tcPr>
                </a:tc>
                <a:tc>
                  <a:txBody>
                    <a:bodyPr/>
                    <a:lstStyle/>
                    <a:p>
                      <a:pPr algn="ctr" indent="0" marL="0">
                        <a:buNone/>
                      </a:pPr>
                      <a:r>
                        <a:rPr lang="en-US" sz="1700" dirty="0">
                          <a:solidFill>
                            <a:srgbClr val="4A5568"/>
                          </a:solidFill>
                        </a:rPr>
                        <a:t>$18.3B</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DF3E0"/>
                    </a:solidFill>
                  </a:tcPr>
                </a:tc>
                <a:tc>
                  <a:txBody>
                    <a:bodyPr/>
                    <a:lstStyle/>
                    <a:p>
                      <a:pPr algn="ctr" indent="0" marL="0">
                        <a:buNone/>
                      </a:pPr>
                      <a:r>
                        <a:rPr lang="en-US" sz="1700" b="1" dirty="0">
                          <a:solidFill>
                            <a:srgbClr val="2E7D5B"/>
                          </a:solidFill>
                        </a:rPr>
                        <a:t>+64.9%</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DF3E0"/>
                    </a:solidFill>
                  </a:tcPr>
                </a:tc>
                <a:tc>
                  <a:txBody>
                    <a:bodyPr/>
                    <a:lstStyle/>
                    <a:p>
                      <a:pPr algn="l" indent="0" marL="0">
                        <a:buNone/>
                      </a:pPr>
                      <a:r>
                        <a:rPr lang="en-US" sz="1700" dirty="0">
                          <a:solidFill>
                            <a:srgbClr val="4A5568"/>
                          </a:solidFill>
                        </a:rPr>
                        <a:t>Recovery begins</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DF3E0"/>
                    </a:solidFill>
                  </a:tcPr>
                </a:tc>
              </a:tr>
              <a:tr h="530352">
                <a:tc>
                  <a:txBody>
                    <a:bodyPr/>
                    <a:lstStyle/>
                    <a:p>
                      <a:pPr algn="ctr" indent="0" marL="0">
                        <a:buNone/>
                      </a:pPr>
                      <a:r>
                        <a:rPr lang="en-US" sz="1700" b="1" dirty="0">
                          <a:solidFill>
                            <a:srgbClr val="1E2761"/>
                          </a:solidFill>
                        </a:rPr>
                        <a:t>2022</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DF3E0"/>
                    </a:solidFill>
                  </a:tcPr>
                </a:tc>
                <a:tc>
                  <a:txBody>
                    <a:bodyPr/>
                    <a:lstStyle/>
                    <a:p>
                      <a:pPr algn="ctr" indent="0" marL="0">
                        <a:buNone/>
                      </a:pPr>
                      <a:r>
                        <a:rPr lang="en-US" sz="1700" dirty="0">
                          <a:solidFill>
                            <a:srgbClr val="4A5568"/>
                          </a:solidFill>
                        </a:rPr>
                        <a:t>$31.8B</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DF3E0"/>
                    </a:solidFill>
                  </a:tcPr>
                </a:tc>
                <a:tc>
                  <a:txBody>
                    <a:bodyPr/>
                    <a:lstStyle/>
                    <a:p>
                      <a:pPr algn="ctr" indent="0" marL="0">
                        <a:buNone/>
                      </a:pPr>
                      <a:r>
                        <a:rPr lang="en-US" sz="1700" b="1" dirty="0">
                          <a:solidFill>
                            <a:srgbClr val="2E7D5B"/>
                          </a:solidFill>
                        </a:rPr>
                        <a:t>+73.7%</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DF3E0"/>
                    </a:solidFill>
                  </a:tcPr>
                </a:tc>
                <a:tc>
                  <a:txBody>
                    <a:bodyPr/>
                    <a:lstStyle/>
                    <a:p>
                      <a:pPr algn="l" indent="0" marL="0">
                        <a:buNone/>
                      </a:pPr>
                      <a:r>
                        <a:rPr lang="en-US" sz="1700" dirty="0">
                          <a:solidFill>
                            <a:srgbClr val="4A5568"/>
                          </a:solidFill>
                        </a:rPr>
                        <a:t>Breakout year</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DF3E0"/>
                    </a:solidFill>
                  </a:tcPr>
                </a:tc>
              </a:tr>
              <a:tr h="530352">
                <a:tc>
                  <a:txBody>
                    <a:bodyPr/>
                    <a:lstStyle/>
                    <a:p>
                      <a:pPr algn="ctr" indent="0" marL="0">
                        <a:buNone/>
                      </a:pPr>
                      <a:r>
                        <a:rPr lang="en-US" sz="1700" b="1" dirty="0">
                          <a:solidFill>
                            <a:srgbClr val="1E2761"/>
                          </a:solidFill>
                        </a:rPr>
                        <a:t>2023</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4A5568"/>
                          </a:solidFill>
                        </a:rPr>
                        <a:t>$35.1B</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2E7D5B"/>
                          </a:solidFill>
                        </a:rPr>
                        <a:t>+10.2%</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FFFFF"/>
                    </a:solidFill>
                  </a:tcPr>
                </a:tc>
                <a:tc>
                  <a:txBody>
                    <a:bodyPr/>
                    <a:lstStyle/>
                    <a:p>
                      <a:pPr algn="l" indent="0" marL="0">
                        <a:buNone/>
                      </a:pPr>
                      <a:r>
                        <a:rPr lang="en-US" sz="1700" dirty="0">
                          <a:solidFill>
                            <a:srgbClr val="4A5568"/>
                          </a:solidFill>
                        </a:rPr>
                        <a:t>Normalising</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FFFFF"/>
                    </a:solidFill>
                  </a:tcPr>
                </a:tc>
              </a:tr>
              <a:tr h="530352">
                <a:tc>
                  <a:txBody>
                    <a:bodyPr/>
                    <a:lstStyle/>
                    <a:p>
                      <a:pPr algn="ctr" indent="0" marL="0">
                        <a:buNone/>
                      </a:pPr>
                      <a:r>
                        <a:rPr lang="en-US" sz="1700" b="1" dirty="0">
                          <a:solidFill>
                            <a:srgbClr val="1E2761"/>
                          </a:solidFill>
                        </a:rPr>
                        <a:t>2024</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7F9FC"/>
                    </a:solidFill>
                  </a:tcPr>
                </a:tc>
                <a:tc>
                  <a:txBody>
                    <a:bodyPr/>
                    <a:lstStyle/>
                    <a:p>
                      <a:pPr algn="ctr" indent="0" marL="0">
                        <a:buNone/>
                      </a:pPr>
                      <a:r>
                        <a:rPr lang="en-US" sz="1700" dirty="0">
                          <a:solidFill>
                            <a:srgbClr val="4A5568"/>
                          </a:solidFill>
                        </a:rPr>
                        <a:t>$36.2B</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7F9FC"/>
                    </a:solidFill>
                  </a:tcPr>
                </a:tc>
                <a:tc>
                  <a:txBody>
                    <a:bodyPr/>
                    <a:lstStyle/>
                    <a:p>
                      <a:pPr algn="ctr" indent="0" marL="0">
                        <a:buNone/>
                      </a:pPr>
                      <a:r>
                        <a:rPr lang="en-US" sz="1700" b="1" dirty="0">
                          <a:solidFill>
                            <a:srgbClr val="2E7D5B"/>
                          </a:solidFill>
                        </a:rPr>
                        <a:t>+3.1%</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7F9FC"/>
                    </a:solidFill>
                  </a:tcPr>
                </a:tc>
                <a:tc>
                  <a:txBody>
                    <a:bodyPr/>
                    <a:lstStyle/>
                    <a:p>
                      <a:pPr algn="l" indent="0" marL="0">
                        <a:buNone/>
                      </a:pPr>
                      <a:r>
                        <a:rPr lang="en-US" sz="1700" dirty="0">
                          <a:solidFill>
                            <a:srgbClr val="4A5568"/>
                          </a:solidFill>
                        </a:rPr>
                        <a:t>Steady</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7F9FC"/>
                    </a:solidFill>
                  </a:tcPr>
                </a:tc>
              </a:tr>
              <a:tr h="530352">
                <a:tc>
                  <a:txBody>
                    <a:bodyPr/>
                    <a:lstStyle/>
                    <a:p>
                      <a:pPr algn="ctr" indent="0" marL="0">
                        <a:buNone/>
                      </a:pPr>
                      <a:r>
                        <a:rPr lang="en-US" sz="1700" b="1" dirty="0">
                          <a:solidFill>
                            <a:srgbClr val="1E2761"/>
                          </a:solidFill>
                        </a:rPr>
                        <a:t>2025</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4A5568"/>
                          </a:solidFill>
                        </a:rPr>
                        <a:t>$38.3B</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2E7D5B"/>
                          </a:solidFill>
                        </a:rPr>
                        <a:t>+5.8%</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FFFFF"/>
                    </a:solidFill>
                  </a:tcPr>
                </a:tc>
                <a:tc>
                  <a:txBody>
                    <a:bodyPr/>
                    <a:lstStyle/>
                    <a:p>
                      <a:pPr algn="l" indent="0" marL="0">
                        <a:buNone/>
                      </a:pPr>
                      <a:r>
                        <a:rPr lang="en-US" sz="1700" dirty="0">
                          <a:solidFill>
                            <a:srgbClr val="4A5568"/>
                          </a:solidFill>
                        </a:rPr>
                        <a:t>Steady</a:t>
                      </a:r>
                      <a:endParaRPr lang="en-US" sz="1700" dirty="0"/>
                    </a:p>
                  </a:txBody>
                  <a:tcPr marL="91440" marR="91440" marT="45720" marB="45720" anchor="ctr">
                    <a:lnL w="6350" cap="flat" cmpd="sng" algn="ctr">
                      <a:solidFill>
                        <a:srgbClr val="E4E8EF"/>
                      </a:solidFill>
                      <a:prstDash val="solid"/>
                      <a:round/>
                      <a:headEnd type="none" w="med" len="med"/>
                      <a:tailEnd type="none" w="med" len="med"/>
                    </a:lnL>
                    <a:lnR w="6350" cap="flat" cmpd="sng" algn="ctr">
                      <a:solidFill>
                        <a:srgbClr val="E4E8EF"/>
                      </a:solidFill>
                      <a:prstDash val="solid"/>
                      <a:round/>
                      <a:headEnd type="none" w="med" len="med"/>
                      <a:tailEnd type="none" w="med" len="med"/>
                    </a:lnR>
                    <a:lnT w="6350" cap="flat" cmpd="sng" algn="ctr">
                      <a:solidFill>
                        <a:srgbClr val="E4E8EF"/>
                      </a:solidFill>
                      <a:prstDash val="solid"/>
                      <a:round/>
                      <a:headEnd type="none" w="med" len="med"/>
                      <a:tailEnd type="none" w="med" len="med"/>
                    </a:lnT>
                    <a:lnB w="6350" cap="flat" cmpd="sng" algn="ctr">
                      <a:solidFill>
                        <a:srgbClr val="E4E8EF"/>
                      </a:solidFill>
                      <a:prstDash val="solid"/>
                      <a:round/>
                      <a:headEnd type="none" w="med" len="med"/>
                      <a:tailEnd type="none" w="med" len="med"/>
                    </a:lnB>
                    <a:solidFill>
                      <a:srgbClr val="FFFFFF"/>
                    </a:solidFill>
                  </a:tcPr>
                </a:tc>
              </a:tr>
            </a:tbl>
          </a:graphicData>
        </a:graphic>
      </p:graphicFrame>
      <p:sp>
        <p:nvSpPr>
          <p:cNvPr id="7" name="Text 4"/>
          <p:cNvSpPr/>
          <p:nvPr/>
        </p:nvSpPr>
        <p:spPr>
          <a:xfrm>
            <a:off x="7680960" y="1463040"/>
            <a:ext cx="4023360" cy="320040"/>
          </a:xfrm>
          <a:prstGeom prst="rect">
            <a:avLst/>
          </a:prstGeom>
          <a:noFill/>
          <a:ln/>
        </p:spPr>
        <p:txBody>
          <a:bodyPr wrap="square" rtlCol="0" anchor="ctr"/>
          <a:lstStyle/>
          <a:p>
            <a:pPr indent="0" marL="0">
              <a:buNone/>
            </a:pPr>
            <a:r>
              <a:rPr lang="en-US" sz="1250" b="1" spc="100" kern="0" dirty="0">
                <a:solidFill>
                  <a:srgbClr val="D98E04"/>
                </a:solidFill>
                <a:latin typeface="Calibri" pitchFamily="34" charset="0"/>
                <a:ea typeface="Calibri" pitchFamily="34" charset="-122"/>
                <a:cs typeface="Calibri" pitchFamily="34" charset="-120"/>
              </a:rPr>
              <a:t>K E Y   S I G N A L</a:t>
            </a:r>
            <a:endParaRPr lang="en-US" sz="1250" dirty="0"/>
          </a:p>
        </p:txBody>
      </p:sp>
      <p:sp>
        <p:nvSpPr>
          <p:cNvPr id="8" name="Text 5"/>
          <p:cNvSpPr/>
          <p:nvPr/>
        </p:nvSpPr>
        <p:spPr>
          <a:xfrm>
            <a:off x="7680960" y="1783080"/>
            <a:ext cx="4023360" cy="868680"/>
          </a:xfrm>
          <a:prstGeom prst="rect">
            <a:avLst/>
          </a:prstGeom>
          <a:noFill/>
          <a:ln/>
        </p:spPr>
        <p:txBody>
          <a:bodyPr wrap="square" rtlCol="0" anchor="ctr"/>
          <a:lstStyle/>
          <a:p>
            <a:pPr indent="0" marL="0">
              <a:buNone/>
            </a:pPr>
            <a:r>
              <a:rPr lang="en-US" sz="5000" b="1" dirty="0">
                <a:solidFill>
                  <a:srgbClr val="D98E04"/>
                </a:solidFill>
                <a:latin typeface="Cambria" pitchFamily="34" charset="0"/>
                <a:ea typeface="Cambria" pitchFamily="34" charset="-122"/>
                <a:cs typeface="Cambria" pitchFamily="34" charset="-120"/>
              </a:rPr>
              <a:t>2022</a:t>
            </a:r>
            <a:endParaRPr lang="en-US" sz="5000" dirty="0"/>
          </a:p>
        </p:txBody>
      </p:sp>
      <p:sp>
        <p:nvSpPr>
          <p:cNvPr id="9" name="Text 6"/>
          <p:cNvSpPr/>
          <p:nvPr/>
        </p:nvSpPr>
        <p:spPr>
          <a:xfrm>
            <a:off x="7680960" y="2697480"/>
            <a:ext cx="4023360" cy="1645920"/>
          </a:xfrm>
          <a:prstGeom prst="rect">
            <a:avLst/>
          </a:prstGeom>
          <a:noFill/>
          <a:ln/>
        </p:spPr>
        <p:txBody>
          <a:bodyPr wrap="square" rtlCol="0" anchor="t"/>
          <a:lstStyle/>
          <a:p>
            <a:pPr indent="0" marL="0">
              <a:lnSpc>
                <a:spcPct val="125000"/>
              </a:lnSpc>
              <a:buNone/>
            </a:pPr>
            <a:r>
              <a:rPr lang="en-US" sz="1550" dirty="0">
                <a:solidFill>
                  <a:srgbClr val="4A5568"/>
                </a:solidFill>
                <a:latin typeface="Calibri" pitchFamily="34" charset="0"/>
                <a:ea typeface="Calibri" pitchFamily="34" charset="-122"/>
                <a:cs typeface="Calibri" pitchFamily="34" charset="-120"/>
              </a:rPr>
              <a:t>The breakout year.</a:t>
            </a:r>
            <a:endParaRPr lang="en-US" sz="1550" dirty="0"/>
          </a:p>
          <a:p>
            <a:pPr indent="0" marL="0">
              <a:lnSpc>
                <a:spcPct val="125000"/>
              </a:lnSpc>
              <a:buNone/>
            </a:pPr>
            <a:r>
              <a:rPr lang="en-US" sz="1550" dirty="0">
                <a:solidFill>
                  <a:srgbClr val="4A5568"/>
                </a:solidFill>
                <a:latin typeface="Calibri" pitchFamily="34" charset="0"/>
                <a:ea typeface="Calibri" pitchFamily="34" charset="-122"/>
                <a:cs typeface="Calibri" pitchFamily="34" charset="-120"/>
              </a:rPr>
              <a:t>Revenue jumped +73.7% — the single largest annual gain in the dataset — and passed the pre-COVID peak for the first time.</a:t>
            </a:r>
            <a:endParaRPr lang="en-US" sz="1550" dirty="0"/>
          </a:p>
        </p:txBody>
      </p:sp>
      <p:sp>
        <p:nvSpPr>
          <p:cNvPr id="10" name="Shape 7"/>
          <p:cNvSpPr/>
          <p:nvPr/>
        </p:nvSpPr>
        <p:spPr>
          <a:xfrm>
            <a:off x="7680960" y="4343400"/>
            <a:ext cx="4023360" cy="18288"/>
          </a:xfrm>
          <a:prstGeom prst="rect">
            <a:avLst/>
          </a:prstGeom>
          <a:solidFill>
            <a:srgbClr val="DDE3EC"/>
          </a:solidFill>
          <a:ln/>
        </p:spPr>
      </p:sp>
      <p:sp>
        <p:nvSpPr>
          <p:cNvPr id="11" name="Text 8"/>
          <p:cNvSpPr/>
          <p:nvPr/>
        </p:nvSpPr>
        <p:spPr>
          <a:xfrm>
            <a:off x="7680960" y="4526280"/>
            <a:ext cx="4023360" cy="1005840"/>
          </a:xfrm>
          <a:prstGeom prst="rect">
            <a:avLst/>
          </a:prstGeom>
          <a:noFill/>
          <a:ln/>
        </p:spPr>
        <p:txBody>
          <a:bodyPr wrap="square" rtlCol="0" anchor="t"/>
          <a:lstStyle/>
          <a:p>
            <a:pPr indent="0" marL="0">
              <a:lnSpc>
                <a:spcPct val="125000"/>
              </a:lnSpc>
              <a:buNone/>
            </a:pPr>
            <a:r>
              <a:rPr lang="en-US" sz="1450" i="1" dirty="0">
                <a:solidFill>
                  <a:srgbClr val="4A5568"/>
                </a:solidFill>
                <a:latin typeface="Calibri" pitchFamily="34" charset="0"/>
                <a:ea typeface="Calibri" pitchFamily="34" charset="-122"/>
                <a:cs typeface="Calibri" pitchFamily="34" charset="-120"/>
              </a:rPr>
              <a:t>Recovery took 2 years from trough to full recovery, then growth settled to a healthy 3-6% a year.</a:t>
            </a:r>
            <a:endParaRPr lang="en-US" sz="1450" dirty="0"/>
          </a:p>
        </p:txBody>
      </p:sp>
      <p:sp>
        <p:nvSpPr>
          <p:cNvPr id="12" name="Shape 9"/>
          <p:cNvSpPr/>
          <p:nvPr/>
        </p:nvSpPr>
        <p:spPr>
          <a:xfrm>
            <a:off x="0" y="5806440"/>
            <a:ext cx="12188952" cy="1051560"/>
          </a:xfrm>
          <a:prstGeom prst="rect">
            <a:avLst/>
          </a:prstGeom>
          <a:solidFill>
            <a:srgbClr val="F7F9FC"/>
          </a:solidFill>
          <a:ln/>
        </p:spPr>
      </p:sp>
      <p:sp>
        <p:nvSpPr>
          <p:cNvPr id="13" name="Shape 10"/>
          <p:cNvSpPr/>
          <p:nvPr/>
        </p:nvSpPr>
        <p:spPr>
          <a:xfrm>
            <a:off x="0" y="5806440"/>
            <a:ext cx="146304" cy="1051560"/>
          </a:xfrm>
          <a:prstGeom prst="rect">
            <a:avLst/>
          </a:prstGeom>
          <a:solidFill>
            <a:srgbClr val="D98E04"/>
          </a:solidFill>
          <a:ln/>
        </p:spPr>
      </p:sp>
      <p:sp>
        <p:nvSpPr>
          <p:cNvPr id="14" name="Text 11"/>
          <p:cNvSpPr/>
          <p:nvPr/>
        </p:nvSpPr>
        <p:spPr>
          <a:xfrm>
            <a:off x="502920" y="5897880"/>
            <a:ext cx="2194560" cy="292608"/>
          </a:xfrm>
          <a:prstGeom prst="rect">
            <a:avLst/>
          </a:prstGeom>
          <a:noFill/>
          <a:ln/>
        </p:spPr>
        <p:txBody>
          <a:bodyPr wrap="square" rtlCol="0" anchor="ctr"/>
          <a:lstStyle/>
          <a:p>
            <a:pPr indent="0" marL="0">
              <a:buNone/>
            </a:pPr>
            <a:r>
              <a:rPr lang="en-US" sz="1250" b="1" spc="80" kern="0" dirty="0">
                <a:solidFill>
                  <a:srgbClr val="D98E04"/>
                </a:solidFill>
                <a:latin typeface="Calibri" pitchFamily="34" charset="0"/>
                <a:ea typeface="Calibri" pitchFamily="34" charset="-122"/>
                <a:cs typeface="Calibri" pitchFamily="34" charset="-120"/>
              </a:rPr>
              <a:t>TAKEAWAY</a:t>
            </a:r>
            <a:endParaRPr lang="en-US" sz="1250" dirty="0"/>
          </a:p>
        </p:txBody>
      </p:sp>
      <p:sp>
        <p:nvSpPr>
          <p:cNvPr id="15" name="Text 12"/>
          <p:cNvSpPr/>
          <p:nvPr/>
        </p:nvSpPr>
        <p:spPr>
          <a:xfrm>
            <a:off x="502920" y="6199632"/>
            <a:ext cx="11155680" cy="502920"/>
          </a:xfrm>
          <a:prstGeom prst="rect">
            <a:avLst/>
          </a:prstGeom>
          <a:noFill/>
          <a:ln/>
        </p:spPr>
        <p:txBody>
          <a:bodyPr wrap="square" rtlCol="0" anchor="ctr"/>
          <a:lstStyle/>
          <a:p>
            <a:pPr indent="0" marL="0">
              <a:buNone/>
            </a:pPr>
            <a:r>
              <a:rPr lang="en-US" sz="1750" dirty="0">
                <a:solidFill>
                  <a:srgbClr val="1E2761"/>
                </a:solidFill>
                <a:latin typeface="Calibri" pitchFamily="34" charset="0"/>
                <a:ea typeface="Calibri" pitchFamily="34" charset="-122"/>
                <a:cs typeface="Calibri" pitchFamily="34" charset="-120"/>
              </a:rPr>
              <a:t>The market fell 62% in 2020, rebounded 64.9% in 2021 and 73.7% in 2022. Recovery is fast — roughly two years — which limits the downside risk of a shock.</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1E2761"/>
          </a:solidFill>
          <a:ln/>
        </p:spPr>
      </p:sp>
      <p:sp>
        <p:nvSpPr>
          <p:cNvPr id="3" name="Shape 1"/>
          <p:cNvSpPr/>
          <p:nvPr/>
        </p:nvSpPr>
        <p:spPr>
          <a:xfrm>
            <a:off x="0" y="914400"/>
            <a:ext cx="12188952" cy="50292"/>
          </a:xfrm>
          <a:prstGeom prst="rect">
            <a:avLst/>
          </a:prstGeom>
          <a:solidFill>
            <a:srgbClr val="D98E04"/>
          </a:solidFill>
          <a:ln/>
        </p:spPr>
      </p:sp>
      <p:sp>
        <p:nvSpPr>
          <p:cNvPr id="4" name="Text 2"/>
          <p:cNvSpPr/>
          <p:nvPr/>
        </p:nvSpPr>
        <p:spPr>
          <a:xfrm>
            <a:off x="502920" y="146304"/>
            <a:ext cx="731520" cy="621792"/>
          </a:xfrm>
          <a:prstGeom prst="rect">
            <a:avLst/>
          </a:prstGeom>
          <a:noFill/>
          <a:ln/>
        </p:spPr>
        <p:txBody>
          <a:bodyPr wrap="square" rtlCol="0" anchor="ctr"/>
          <a:lstStyle/>
          <a:p>
            <a:pPr indent="0" marL="0">
              <a:buNone/>
            </a:pPr>
            <a:r>
              <a:rPr lang="en-US" sz="2700" b="1" dirty="0">
                <a:solidFill>
                  <a:srgbClr val="D98E04"/>
                </a:solidFill>
                <a:latin typeface="Cambria" pitchFamily="34" charset="0"/>
                <a:ea typeface="Cambria" pitchFamily="34" charset="-122"/>
                <a:cs typeface="Cambria" pitchFamily="34" charset="-120"/>
              </a:rPr>
              <a:t>04</a:t>
            </a:r>
            <a:endParaRPr lang="en-US" sz="2700" dirty="0"/>
          </a:p>
        </p:txBody>
      </p:sp>
      <p:sp>
        <p:nvSpPr>
          <p:cNvPr id="5" name="Text 3"/>
          <p:cNvSpPr/>
          <p:nvPr/>
        </p:nvSpPr>
        <p:spPr>
          <a:xfrm>
            <a:off x="1325880" y="146304"/>
            <a:ext cx="10332720" cy="621792"/>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WHICH — Which routes carry the revenue?</a:t>
            </a:r>
            <a:endParaRPr lang="en-US" sz="1900" dirty="0"/>
          </a:p>
        </p:txBody>
      </p:sp>
      <p:graphicFrame>
        <p:nvGraphicFramePr>
          <p:cNvPr id="6" name="Chart 0" descr=""/>
          <p:cNvGraphicFramePr/>
          <p:nvPr/>
        </p:nvGraphicFramePr>
        <p:xfrm>
          <a:off x="1463040" y="1280160"/>
          <a:ext cx="8503920" cy="43434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10058400" y="1920240"/>
            <a:ext cx="256032" cy="256032"/>
          </a:xfrm>
          <a:prstGeom prst="rect">
            <a:avLst/>
          </a:prstGeom>
          <a:solidFill>
            <a:srgbClr val="D98E04"/>
          </a:solidFill>
          <a:ln/>
        </p:spPr>
      </p:sp>
      <p:sp>
        <p:nvSpPr>
          <p:cNvPr id="8" name="Text 5"/>
          <p:cNvSpPr/>
          <p:nvPr/>
        </p:nvSpPr>
        <p:spPr>
          <a:xfrm>
            <a:off x="10405872" y="1920240"/>
            <a:ext cx="1691640" cy="274320"/>
          </a:xfrm>
          <a:prstGeom prst="rect">
            <a:avLst/>
          </a:prstGeom>
          <a:noFill/>
          <a:ln/>
        </p:spPr>
        <p:txBody>
          <a:bodyPr wrap="square" rtlCol="0" anchor="ctr"/>
          <a:lstStyle/>
          <a:p>
            <a:pPr indent="0" marL="0">
              <a:buNone/>
            </a:pPr>
            <a:r>
              <a:rPr lang="en-US" sz="1350" dirty="0">
                <a:solidFill>
                  <a:srgbClr val="4A5568"/>
                </a:solidFill>
                <a:latin typeface="Calibri" pitchFamily="34" charset="0"/>
                <a:ea typeface="Calibri" pitchFamily="34" charset="-122"/>
                <a:cs typeface="Calibri" pitchFamily="34" charset="-120"/>
              </a:rPr>
              <a:t>International</a:t>
            </a:r>
            <a:endParaRPr lang="en-US" sz="1350" dirty="0"/>
          </a:p>
        </p:txBody>
      </p:sp>
      <p:sp>
        <p:nvSpPr>
          <p:cNvPr id="9" name="Shape 6"/>
          <p:cNvSpPr/>
          <p:nvPr/>
        </p:nvSpPr>
        <p:spPr>
          <a:xfrm>
            <a:off x="10058400" y="2331720"/>
            <a:ext cx="256032" cy="256032"/>
          </a:xfrm>
          <a:prstGeom prst="rect">
            <a:avLst/>
          </a:prstGeom>
          <a:solidFill>
            <a:srgbClr val="3B5BA5"/>
          </a:solidFill>
          <a:ln/>
        </p:spPr>
      </p:sp>
      <p:sp>
        <p:nvSpPr>
          <p:cNvPr id="10" name="Text 7"/>
          <p:cNvSpPr/>
          <p:nvPr/>
        </p:nvSpPr>
        <p:spPr>
          <a:xfrm>
            <a:off x="10405872" y="2331720"/>
            <a:ext cx="1691640" cy="274320"/>
          </a:xfrm>
          <a:prstGeom prst="rect">
            <a:avLst/>
          </a:prstGeom>
          <a:noFill/>
          <a:ln/>
        </p:spPr>
        <p:txBody>
          <a:bodyPr wrap="square" rtlCol="0" anchor="ctr"/>
          <a:lstStyle/>
          <a:p>
            <a:pPr indent="0" marL="0">
              <a:buNone/>
            </a:pPr>
            <a:r>
              <a:rPr lang="en-US" sz="1350" dirty="0">
                <a:solidFill>
                  <a:srgbClr val="4A5568"/>
                </a:solidFill>
                <a:latin typeface="Calibri" pitchFamily="34" charset="0"/>
                <a:ea typeface="Calibri" pitchFamily="34" charset="-122"/>
                <a:cs typeface="Calibri" pitchFamily="34" charset="-120"/>
              </a:rPr>
              <a:t>Domestic</a:t>
            </a:r>
            <a:endParaRPr lang="en-US" sz="1350" dirty="0"/>
          </a:p>
        </p:txBody>
      </p:sp>
      <p:sp>
        <p:nvSpPr>
          <p:cNvPr id="11" name="Shape 8"/>
          <p:cNvSpPr/>
          <p:nvPr/>
        </p:nvSpPr>
        <p:spPr>
          <a:xfrm>
            <a:off x="0" y="5806440"/>
            <a:ext cx="12188952" cy="1051560"/>
          </a:xfrm>
          <a:prstGeom prst="rect">
            <a:avLst/>
          </a:prstGeom>
          <a:solidFill>
            <a:srgbClr val="F7F9FC"/>
          </a:solidFill>
          <a:ln/>
        </p:spPr>
      </p:sp>
      <p:sp>
        <p:nvSpPr>
          <p:cNvPr id="12" name="Shape 9"/>
          <p:cNvSpPr/>
          <p:nvPr/>
        </p:nvSpPr>
        <p:spPr>
          <a:xfrm>
            <a:off x="0" y="5806440"/>
            <a:ext cx="146304" cy="1051560"/>
          </a:xfrm>
          <a:prstGeom prst="rect">
            <a:avLst/>
          </a:prstGeom>
          <a:solidFill>
            <a:srgbClr val="D98E04"/>
          </a:solidFill>
          <a:ln/>
        </p:spPr>
      </p:sp>
      <p:sp>
        <p:nvSpPr>
          <p:cNvPr id="13" name="Text 10"/>
          <p:cNvSpPr/>
          <p:nvPr/>
        </p:nvSpPr>
        <p:spPr>
          <a:xfrm>
            <a:off x="502920" y="5897880"/>
            <a:ext cx="2194560" cy="292608"/>
          </a:xfrm>
          <a:prstGeom prst="rect">
            <a:avLst/>
          </a:prstGeom>
          <a:noFill/>
          <a:ln/>
        </p:spPr>
        <p:txBody>
          <a:bodyPr wrap="square" rtlCol="0" anchor="ctr"/>
          <a:lstStyle/>
          <a:p>
            <a:pPr indent="0" marL="0">
              <a:buNone/>
            </a:pPr>
            <a:r>
              <a:rPr lang="en-US" sz="1250" b="1" spc="80" kern="0" dirty="0">
                <a:solidFill>
                  <a:srgbClr val="D98E04"/>
                </a:solidFill>
                <a:latin typeface="Calibri" pitchFamily="34" charset="0"/>
                <a:ea typeface="Calibri" pitchFamily="34" charset="-122"/>
                <a:cs typeface="Calibri" pitchFamily="34" charset="-120"/>
              </a:rPr>
              <a:t>TAKEAWAY</a:t>
            </a:r>
            <a:endParaRPr lang="en-US" sz="1250" dirty="0"/>
          </a:p>
        </p:txBody>
      </p:sp>
      <p:sp>
        <p:nvSpPr>
          <p:cNvPr id="14" name="Text 11"/>
          <p:cNvSpPr/>
          <p:nvPr/>
        </p:nvSpPr>
        <p:spPr>
          <a:xfrm>
            <a:off x="502920" y="6199632"/>
            <a:ext cx="11155680" cy="502920"/>
          </a:xfrm>
          <a:prstGeom prst="rect">
            <a:avLst/>
          </a:prstGeom>
          <a:noFill/>
          <a:ln/>
        </p:spPr>
        <p:txBody>
          <a:bodyPr wrap="square" rtlCol="0" anchor="ctr"/>
          <a:lstStyle/>
          <a:p>
            <a:pPr indent="0" marL="0">
              <a:buNone/>
            </a:pPr>
            <a:r>
              <a:rPr lang="en-US" sz="1750" dirty="0">
                <a:solidFill>
                  <a:srgbClr val="1E2761"/>
                </a:solidFill>
                <a:latin typeface="Calibri" pitchFamily="34" charset="0"/>
                <a:ea typeface="Calibri" pitchFamily="34" charset="-122"/>
                <a:cs typeface="Calibri" pitchFamily="34" charset="-120"/>
              </a:rPr>
              <a:t>The three highest-earning routes are all trans-Pacific international, each above $1 billion a year. Domestic routes are solid but sit in the middle of the pack.</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1E2761"/>
          </a:solidFill>
          <a:ln/>
        </p:spPr>
      </p:sp>
      <p:sp>
        <p:nvSpPr>
          <p:cNvPr id="3" name="Shape 1"/>
          <p:cNvSpPr/>
          <p:nvPr/>
        </p:nvSpPr>
        <p:spPr>
          <a:xfrm>
            <a:off x="0" y="914400"/>
            <a:ext cx="12188952" cy="50292"/>
          </a:xfrm>
          <a:prstGeom prst="rect">
            <a:avLst/>
          </a:prstGeom>
          <a:solidFill>
            <a:srgbClr val="D98E04"/>
          </a:solidFill>
          <a:ln/>
        </p:spPr>
      </p:sp>
      <p:sp>
        <p:nvSpPr>
          <p:cNvPr id="4" name="Text 2"/>
          <p:cNvSpPr/>
          <p:nvPr/>
        </p:nvSpPr>
        <p:spPr>
          <a:xfrm>
            <a:off x="502920" y="146304"/>
            <a:ext cx="731520" cy="621792"/>
          </a:xfrm>
          <a:prstGeom prst="rect">
            <a:avLst/>
          </a:prstGeom>
          <a:noFill/>
          <a:ln/>
        </p:spPr>
        <p:txBody>
          <a:bodyPr wrap="square" rtlCol="0" anchor="ctr"/>
          <a:lstStyle/>
          <a:p>
            <a:pPr indent="0" marL="0">
              <a:buNone/>
            </a:pPr>
            <a:r>
              <a:rPr lang="en-US" sz="2700" b="1" dirty="0">
                <a:solidFill>
                  <a:srgbClr val="D98E04"/>
                </a:solidFill>
                <a:latin typeface="Cambria" pitchFamily="34" charset="0"/>
                <a:ea typeface="Cambria" pitchFamily="34" charset="-122"/>
                <a:cs typeface="Cambria" pitchFamily="34" charset="-120"/>
              </a:rPr>
              <a:t>05</a:t>
            </a:r>
            <a:endParaRPr lang="en-US" sz="2700" dirty="0"/>
          </a:p>
        </p:txBody>
      </p:sp>
      <p:sp>
        <p:nvSpPr>
          <p:cNvPr id="5" name="Text 3"/>
          <p:cNvSpPr/>
          <p:nvPr/>
        </p:nvSpPr>
        <p:spPr>
          <a:xfrm>
            <a:off x="1325880" y="146304"/>
            <a:ext cx="10332720" cy="621792"/>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HOW — Which Route Type Earns More Per km?</a:t>
            </a:r>
            <a:endParaRPr lang="en-US" sz="1900" dirty="0"/>
          </a:p>
        </p:txBody>
      </p:sp>
      <p:pic>
        <p:nvPicPr>
          <p:cNvPr id="17" name="Chart Image"/>
          <p:cNvPicPr>
            <a:picLocks noChangeAspect="1"/>
          </p:cNvPicPr>
          <p:nvPr/>
        </p:nvPicPr>
        <p:blipFill>
          <a:blip r:embed="rId3"/>
          <a:stretch>
            <a:fillRect/>
          </a:stretch>
        </p:blipFill>
        <p:spPr>
          <a:xfrm>
            <a:off x="640080" y="1600200"/>
            <a:ext cx="6675120" cy="2743200"/>
          </a:xfrm>
          <a:prstGeom prst="rect">
            <a:avLst/>
          </a:prstGeom>
        </p:spPr>
      </p:pic>
      <p:sp>
        <p:nvSpPr>
          <p:cNvPr id="7" name="Text 4"/>
          <p:cNvSpPr/>
          <p:nvPr/>
        </p:nvSpPr>
        <p:spPr>
          <a:xfrm>
            <a:off x="7680960" y="1600200"/>
            <a:ext cx="4114800" cy="320040"/>
          </a:xfrm>
          <a:prstGeom prst="rect">
            <a:avLst/>
          </a:prstGeom>
          <a:noFill/>
          <a:ln/>
        </p:spPr>
        <p:txBody>
          <a:bodyPr wrap="square" rtlCol="0" anchor="ctr"/>
          <a:lstStyle/>
          <a:p>
            <a:pPr indent="0" marL="0">
              <a:buNone/>
            </a:pPr>
            <a:r>
              <a:rPr lang="en-US" sz="1250" b="1" spc="100" kern="0" dirty="0">
                <a:solidFill>
                  <a:srgbClr val="D98E04"/>
                </a:solidFill>
                <a:latin typeface="Calibri" pitchFamily="34" charset="0"/>
                <a:ea typeface="Calibri" pitchFamily="34" charset="-122"/>
                <a:cs typeface="Calibri" pitchFamily="34" charset="-120"/>
              </a:rPr>
              <a:t>T H E   T R A D E - O F F</a:t>
            </a:r>
            <a:endParaRPr lang="en-US" sz="1250" dirty="0"/>
          </a:p>
        </p:txBody>
      </p:sp>
      <p:sp>
        <p:nvSpPr>
          <p:cNvPr id="8" name="Text 5"/>
          <p:cNvSpPr/>
          <p:nvPr/>
        </p:nvSpPr>
        <p:spPr>
          <a:xfrm>
            <a:off x="7680960" y="1874520"/>
            <a:ext cx="4114800" cy="822960"/>
          </a:xfrm>
          <a:prstGeom prst="rect">
            <a:avLst/>
          </a:prstGeom>
          <a:noFill/>
          <a:ln/>
        </p:spPr>
        <p:txBody>
          <a:bodyPr wrap="square" rtlCol="0" anchor="ctr"/>
          <a:lstStyle/>
          <a:p>
            <a:pPr indent="0" marL="0">
              <a:buNone/>
            </a:pPr>
            <a:r>
              <a:rPr lang="en-US" sz="4400" b="1" dirty="0">
                <a:solidFill>
                  <a:srgbClr val="D98E04"/>
                </a:solidFill>
                <a:latin typeface="Cambria" pitchFamily="34" charset="0"/>
                <a:ea typeface="Cambria" pitchFamily="34" charset="-122"/>
                <a:cs typeface="Cambria" pitchFamily="34" charset="-120"/>
              </a:rPr>
              <a:t>+33–45%</a:t>
            </a:r>
            <a:endParaRPr lang="en-US" sz="4400" dirty="0"/>
          </a:p>
        </p:txBody>
      </p:sp>
      <p:sp>
        <p:nvSpPr>
          <p:cNvPr id="9" name="Text 6"/>
          <p:cNvSpPr/>
          <p:nvPr/>
        </p:nvSpPr>
        <p:spPr>
          <a:xfrm>
            <a:off x="7680960" y="2743200"/>
            <a:ext cx="4114800" cy="914400"/>
          </a:xfrm>
          <a:prstGeom prst="rect">
            <a:avLst/>
          </a:prstGeom>
          <a:noFill/>
          <a:ln/>
        </p:spPr>
        <p:txBody>
          <a:bodyPr wrap="square" rtlCol="0" anchor="t"/>
          <a:lstStyle/>
          <a:p>
            <a:pPr indent="0" marL="0">
              <a:lnSpc>
                <a:spcPct val="125000"/>
              </a:lnSpc>
              <a:buNone/>
            </a:pPr>
            <a:r>
              <a:rPr lang="en-US" sz="1550" dirty="0">
                <a:solidFill>
                  <a:srgbClr val="4A5568"/>
                </a:solidFill>
                <a:latin typeface="Calibri" pitchFamily="34" charset="0"/>
                <a:ea typeface="Calibri" pitchFamily="34" charset="-122"/>
                <a:cs typeface="Calibri" pitchFamily="34" charset="-120"/>
              </a:rPr>
              <a:t>more revenue per kilometre on domestic routes — for every airline measured.</a:t>
            </a:r>
            <a:endParaRPr lang="en-US" sz="1550" dirty="0"/>
          </a:p>
        </p:txBody>
      </p:sp>
      <p:sp>
        <p:nvSpPr>
          <p:cNvPr id="10" name="Shape 7"/>
          <p:cNvSpPr/>
          <p:nvPr/>
        </p:nvSpPr>
        <p:spPr>
          <a:xfrm>
            <a:off x="7680960" y="3657600"/>
            <a:ext cx="4114800" cy="18288"/>
          </a:xfrm>
          <a:prstGeom prst="rect">
            <a:avLst/>
          </a:prstGeom>
          <a:solidFill>
            <a:srgbClr val="DDE3EC"/>
          </a:solidFill>
          <a:ln/>
        </p:spPr>
      </p:sp>
      <p:sp>
        <p:nvSpPr>
          <p:cNvPr id="11" name="Text 8"/>
          <p:cNvSpPr/>
          <p:nvPr/>
        </p:nvSpPr>
        <p:spPr>
          <a:xfrm>
            <a:off x="7680960" y="3840480"/>
            <a:ext cx="4114800" cy="1280160"/>
          </a:xfrm>
          <a:prstGeom prst="rect">
            <a:avLst/>
          </a:prstGeom>
          <a:noFill/>
          <a:ln/>
        </p:spPr>
        <p:txBody>
          <a:bodyPr wrap="square" rtlCol="0" anchor="t"/>
          <a:lstStyle/>
          <a:p>
            <a:pPr indent="0" marL="0">
              <a:lnSpc>
                <a:spcPct val="130000"/>
              </a:lnSpc>
              <a:buNone/>
            </a:pPr>
            <a:r>
              <a:rPr lang="en-US" sz="1550" b="1" dirty="0">
                <a:solidFill>
                  <a:srgbClr val="1E2761"/>
                </a:solidFill>
                <a:latin typeface="Calibri" pitchFamily="34" charset="0"/>
                <a:ea typeface="Calibri" pitchFamily="34" charset="-122"/>
                <a:cs typeface="Calibri" pitchFamily="34" charset="-120"/>
              </a:rPr>
              <a:t>International wins on volume.</a:t>
            </a:r>
            <a:endParaRPr lang="en-US" sz="1550" dirty="0"/>
          </a:p>
          <a:p>
            <a:pPr indent="0" marL="0">
              <a:lnSpc>
                <a:spcPct val="130000"/>
              </a:lnSpc>
              <a:buNone/>
            </a:pPr>
            <a:r>
              <a:rPr lang="en-US" sz="1550" b="1" dirty="0">
                <a:solidFill>
                  <a:srgbClr val="1E2761"/>
                </a:solidFill>
                <a:latin typeface="Calibri" pitchFamily="34" charset="0"/>
                <a:ea typeface="Calibri" pitchFamily="34" charset="-122"/>
                <a:cs typeface="Calibri" pitchFamily="34" charset="-120"/>
              </a:rPr>
              <a:t>Domestic wins on efficiency.</a:t>
            </a:r>
            <a:endParaRPr lang="en-US" sz="1550" dirty="0"/>
          </a:p>
          <a:p>
            <a:pPr indent="0" marL="0">
              <a:lnSpc>
                <a:spcPct val="130000"/>
              </a:lnSpc>
              <a:buNone/>
            </a:pPr>
            <a:r>
              <a:rPr lang="en-US" sz="1550" b="1" dirty="0">
                <a:solidFill>
                  <a:srgbClr val="1E2761"/>
                </a:solidFill>
                <a:latin typeface="Calibri" pitchFamily="34" charset="0"/>
                <a:ea typeface="Calibri" pitchFamily="34" charset="-122"/>
                <a:cs typeface="Calibri" pitchFamily="34" charset="-120"/>
              </a:rPr>
              <a:t>That is the investment choice.</a:t>
            </a:r>
            <a:endParaRPr lang="en-US" sz="1550" dirty="0"/>
          </a:p>
        </p:txBody>
      </p:sp>
      <p:sp>
        <p:nvSpPr>
          <p:cNvPr id="13" name="Shape 10"/>
          <p:cNvSpPr/>
          <p:nvPr/>
        </p:nvSpPr>
        <p:spPr>
          <a:xfrm>
            <a:off x="0" y="5806440"/>
            <a:ext cx="12188952" cy="1051560"/>
          </a:xfrm>
          <a:prstGeom prst="rect">
            <a:avLst/>
          </a:prstGeom>
          <a:solidFill>
            <a:srgbClr val="F7F9FC"/>
          </a:solidFill>
          <a:ln/>
        </p:spPr>
      </p:sp>
      <p:sp>
        <p:nvSpPr>
          <p:cNvPr id="14" name="Shape 11"/>
          <p:cNvSpPr/>
          <p:nvPr/>
        </p:nvSpPr>
        <p:spPr>
          <a:xfrm>
            <a:off x="0" y="5806440"/>
            <a:ext cx="146304" cy="1051560"/>
          </a:xfrm>
          <a:prstGeom prst="rect">
            <a:avLst/>
          </a:prstGeom>
          <a:solidFill>
            <a:srgbClr val="D98E04"/>
          </a:solidFill>
          <a:ln/>
        </p:spPr>
      </p:sp>
      <p:sp>
        <p:nvSpPr>
          <p:cNvPr id="15" name="Text 12"/>
          <p:cNvSpPr/>
          <p:nvPr/>
        </p:nvSpPr>
        <p:spPr>
          <a:xfrm>
            <a:off x="502920" y="5897880"/>
            <a:ext cx="2194560" cy="292608"/>
          </a:xfrm>
          <a:prstGeom prst="rect">
            <a:avLst/>
          </a:prstGeom>
          <a:noFill/>
          <a:ln/>
        </p:spPr>
        <p:txBody>
          <a:bodyPr wrap="square" rtlCol="0" anchor="ctr"/>
          <a:lstStyle/>
          <a:p>
            <a:pPr indent="0" marL="0">
              <a:buNone/>
            </a:pPr>
            <a:r>
              <a:rPr lang="en-US" sz="1250" b="1" spc="80" kern="0" dirty="0">
                <a:solidFill>
                  <a:srgbClr val="D98E04"/>
                </a:solidFill>
                <a:latin typeface="Calibri" pitchFamily="34" charset="0"/>
                <a:ea typeface="Calibri" pitchFamily="34" charset="-122"/>
                <a:cs typeface="Calibri" pitchFamily="34" charset="-120"/>
              </a:rPr>
              <a:t>TAKEAWAY</a:t>
            </a:r>
            <a:endParaRPr lang="en-US" sz="1250" dirty="0"/>
          </a:p>
        </p:txBody>
      </p:sp>
      <p:sp>
        <p:nvSpPr>
          <p:cNvPr id="16" name="Text 13"/>
          <p:cNvSpPr/>
          <p:nvPr/>
        </p:nvSpPr>
        <p:spPr>
          <a:xfrm>
            <a:off x="502920" y="6199632"/>
            <a:ext cx="11155680" cy="502920"/>
          </a:xfrm>
          <a:prstGeom prst="rect">
            <a:avLst/>
          </a:prstGeom>
          <a:noFill/>
          <a:ln/>
        </p:spPr>
        <p:txBody>
          <a:bodyPr wrap="square" rtlCol="0" anchor="ctr"/>
          <a:lstStyle/>
          <a:p>
            <a:pPr indent="0" marL="0">
              <a:buNone/>
            </a:pPr>
            <a:r>
              <a:rPr lang="en-US" sz="1750" dirty="0">
                <a:solidFill>
                  <a:srgbClr val="1E2761"/>
                </a:solidFill>
                <a:latin typeface="Calibri" pitchFamily="34" charset="0"/>
                <a:ea typeface="Calibri" pitchFamily="34" charset="-122"/>
                <a:cs typeface="Calibri" pitchFamily="34" charset="-120"/>
              </a:rPr>
              <a:t>Domestic routes earn 33–45% more per kilometre than international ones. The biggest routes are not the most efficient — volume and margin are a genuine trade-off.</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052560" y="-2560320"/>
            <a:ext cx="7132320" cy="7132320"/>
          </a:xfrm>
          <a:prstGeom prst="ellipse">
            <a:avLst/>
          </a:prstGeom>
          <a:solidFill>
            <a:srgbClr val="141B45"/>
          </a:solidFill>
          <a:ln/>
        </p:spPr>
      </p:sp>
      <p:sp>
        <p:nvSpPr>
          <p:cNvPr id="3" name="Shape 1"/>
          <p:cNvSpPr/>
          <p:nvPr/>
        </p:nvSpPr>
        <p:spPr>
          <a:xfrm>
            <a:off x="731520" y="868680"/>
            <a:ext cx="100584" cy="822960"/>
          </a:xfrm>
          <a:prstGeom prst="rect">
            <a:avLst/>
          </a:prstGeom>
          <a:solidFill>
            <a:srgbClr val="D98E04"/>
          </a:solidFill>
          <a:ln/>
        </p:spPr>
      </p:sp>
      <p:sp>
        <p:nvSpPr>
          <p:cNvPr id="4" name="Text 2"/>
          <p:cNvSpPr/>
          <p:nvPr/>
        </p:nvSpPr>
        <p:spPr>
          <a:xfrm>
            <a:off x="1051560" y="658368"/>
            <a:ext cx="8229600" cy="320040"/>
          </a:xfrm>
          <a:prstGeom prst="rect">
            <a:avLst/>
          </a:prstGeom>
          <a:noFill/>
          <a:ln/>
        </p:spPr>
        <p:txBody>
          <a:bodyPr wrap="square" rtlCol="0" anchor="ctr"/>
          <a:lstStyle/>
          <a:p>
            <a:pPr indent="0" marL="0">
              <a:buNone/>
            </a:pPr>
            <a:r>
              <a:rPr lang="en-US" sz="1250" b="1" spc="100" kern="0" dirty="0">
                <a:solidFill>
                  <a:srgbClr val="D98E04"/>
                </a:solidFill>
                <a:latin typeface="Calibri" pitchFamily="34" charset="0"/>
                <a:ea typeface="Calibri" pitchFamily="34" charset="-122"/>
                <a:cs typeface="Calibri" pitchFamily="34" charset="-120"/>
              </a:rPr>
              <a:t>T H E   R E C O M M E N D A T I O N</a:t>
            </a:r>
            <a:endParaRPr lang="en-US" sz="1250" dirty="0"/>
          </a:p>
        </p:txBody>
      </p:sp>
      <p:sp>
        <p:nvSpPr>
          <p:cNvPr id="5" name="Text 3"/>
          <p:cNvSpPr/>
          <p:nvPr/>
        </p:nvSpPr>
        <p:spPr>
          <a:xfrm>
            <a:off x="1051560" y="987552"/>
            <a:ext cx="10058400" cy="73152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Invest in North America.</a:t>
            </a:r>
            <a:endParaRPr lang="en-US" sz="3600" dirty="0"/>
          </a:p>
        </p:txBody>
      </p:sp>
      <p:sp>
        <p:nvSpPr>
          <p:cNvPr id="6" name="Shape 4"/>
          <p:cNvSpPr/>
          <p:nvPr/>
        </p:nvSpPr>
        <p:spPr>
          <a:xfrm>
            <a:off x="822960" y="1965960"/>
            <a:ext cx="5166360" cy="2331720"/>
          </a:xfrm>
          <a:prstGeom prst="rect">
            <a:avLst/>
          </a:prstGeom>
          <a:solidFill>
            <a:srgbClr val="27306B"/>
          </a:solidFill>
          <a:ln/>
        </p:spPr>
      </p:sp>
      <p:sp>
        <p:nvSpPr>
          <p:cNvPr id="7" name="Shape 5"/>
          <p:cNvSpPr/>
          <p:nvPr/>
        </p:nvSpPr>
        <p:spPr>
          <a:xfrm>
            <a:off x="822960" y="1965960"/>
            <a:ext cx="5166360" cy="73152"/>
          </a:xfrm>
          <a:prstGeom prst="rect">
            <a:avLst/>
          </a:prstGeom>
          <a:solidFill>
            <a:srgbClr val="D98E04"/>
          </a:solidFill>
          <a:ln/>
        </p:spPr>
      </p:sp>
      <p:sp>
        <p:nvSpPr>
          <p:cNvPr id="8" name="Text 6"/>
          <p:cNvSpPr/>
          <p:nvPr/>
        </p:nvSpPr>
        <p:spPr>
          <a:xfrm>
            <a:off x="1097280" y="2286000"/>
            <a:ext cx="4617720" cy="347472"/>
          </a:xfrm>
          <a:prstGeom prst="rect">
            <a:avLst/>
          </a:prstGeom>
          <a:noFill/>
          <a:ln/>
        </p:spPr>
        <p:txBody>
          <a:bodyPr wrap="square" rtlCol="0" anchor="ctr"/>
          <a:lstStyle/>
          <a:p>
            <a:pPr indent="0" marL="0">
              <a:buNone/>
            </a:pPr>
            <a:r>
              <a:rPr lang="en-US" sz="1250" b="1" spc="90" kern="0" dirty="0">
                <a:solidFill>
                  <a:srgbClr val="D98E04"/>
                </a:solidFill>
                <a:latin typeface="Calibri" pitchFamily="34" charset="0"/>
                <a:ea typeface="Calibri" pitchFamily="34" charset="-122"/>
                <a:cs typeface="Calibri" pitchFamily="34" charset="-120"/>
              </a:rPr>
              <a:t>THE CORE</a:t>
            </a:r>
            <a:endParaRPr lang="en-US" sz="1250" dirty="0"/>
          </a:p>
        </p:txBody>
      </p:sp>
      <p:sp>
        <p:nvSpPr>
          <p:cNvPr id="9" name="Text 7"/>
          <p:cNvSpPr/>
          <p:nvPr/>
        </p:nvSpPr>
        <p:spPr>
          <a:xfrm>
            <a:off x="1097280" y="2697480"/>
            <a:ext cx="4617720" cy="54864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Delta Air Lines</a:t>
            </a:r>
            <a:endParaRPr lang="en-US" sz="2200" dirty="0"/>
          </a:p>
        </p:txBody>
      </p:sp>
      <p:sp>
        <p:nvSpPr>
          <p:cNvPr id="10" name="Text 8"/>
          <p:cNvSpPr/>
          <p:nvPr/>
        </p:nvSpPr>
        <p:spPr>
          <a:xfrm>
            <a:off x="1097280" y="3291840"/>
            <a:ext cx="4617720" cy="73152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$64.7B</a:t>
            </a:r>
            <a:endParaRPr lang="en-US" sz="3800" dirty="0"/>
          </a:p>
        </p:txBody>
      </p:sp>
      <p:sp>
        <p:nvSpPr>
          <p:cNvPr id="11" name="Text 9"/>
          <p:cNvSpPr/>
          <p:nvPr/>
        </p:nvSpPr>
        <p:spPr>
          <a:xfrm>
            <a:off x="1097280" y="4041648"/>
            <a:ext cx="4617720" cy="457200"/>
          </a:xfrm>
          <a:prstGeom prst="rect">
            <a:avLst/>
          </a:prstGeom>
          <a:noFill/>
          <a:ln/>
        </p:spPr>
        <p:txBody>
          <a:bodyPr wrap="square" rtlCol="0" anchor="t"/>
          <a:lstStyle/>
          <a:p>
            <a:pPr indent="0" marL="0">
              <a:buNone/>
            </a:pPr>
            <a:r>
              <a:rPr lang="en-US" sz="1350" dirty="0">
                <a:solidFill>
                  <a:srgbClr val="9AA7D4"/>
                </a:solidFill>
                <a:latin typeface="Calibri" pitchFamily="34" charset="0"/>
                <a:ea typeface="Calibri" pitchFamily="34" charset="-122"/>
                <a:cs typeface="Calibri" pitchFamily="34" charset="-120"/>
              </a:rPr>
              <a:t>revenue · largest carrier</a:t>
            </a:r>
            <a:endParaRPr lang="en-US" sz="1350" dirty="0"/>
          </a:p>
        </p:txBody>
      </p:sp>
      <p:sp>
        <p:nvSpPr>
          <p:cNvPr id="12" name="Shape 10"/>
          <p:cNvSpPr/>
          <p:nvPr/>
        </p:nvSpPr>
        <p:spPr>
          <a:xfrm>
            <a:off x="6217920" y="1965960"/>
            <a:ext cx="5166360" cy="2331720"/>
          </a:xfrm>
          <a:prstGeom prst="rect">
            <a:avLst/>
          </a:prstGeom>
          <a:solidFill>
            <a:srgbClr val="27306B"/>
          </a:solidFill>
          <a:ln/>
        </p:spPr>
      </p:sp>
      <p:sp>
        <p:nvSpPr>
          <p:cNvPr id="13" name="Shape 11"/>
          <p:cNvSpPr/>
          <p:nvPr/>
        </p:nvSpPr>
        <p:spPr>
          <a:xfrm>
            <a:off x="6217920" y="1965960"/>
            <a:ext cx="5166360" cy="73152"/>
          </a:xfrm>
          <a:prstGeom prst="rect">
            <a:avLst/>
          </a:prstGeom>
          <a:solidFill>
            <a:srgbClr val="D98E04"/>
          </a:solidFill>
          <a:ln/>
        </p:spPr>
      </p:sp>
      <p:sp>
        <p:nvSpPr>
          <p:cNvPr id="14" name="Text 12"/>
          <p:cNvSpPr/>
          <p:nvPr/>
        </p:nvSpPr>
        <p:spPr>
          <a:xfrm>
            <a:off x="6492240" y="2286000"/>
            <a:ext cx="4617720" cy="347472"/>
          </a:xfrm>
          <a:prstGeom prst="rect">
            <a:avLst/>
          </a:prstGeom>
          <a:noFill/>
          <a:ln/>
        </p:spPr>
        <p:txBody>
          <a:bodyPr wrap="square" rtlCol="0" anchor="ctr"/>
          <a:lstStyle/>
          <a:p>
            <a:pPr indent="0" marL="0">
              <a:buNone/>
            </a:pPr>
            <a:r>
              <a:rPr lang="en-US" sz="1250" b="1" spc="90" kern="0" dirty="0">
                <a:solidFill>
                  <a:srgbClr val="D98E04"/>
                </a:solidFill>
                <a:latin typeface="Calibri" pitchFamily="34" charset="0"/>
                <a:ea typeface="Calibri" pitchFamily="34" charset="-122"/>
                <a:cs typeface="Calibri" pitchFamily="34" charset="-120"/>
              </a:rPr>
              <a:t>THE MARGIN PLAY</a:t>
            </a:r>
            <a:endParaRPr lang="en-US" sz="1250" dirty="0"/>
          </a:p>
        </p:txBody>
      </p:sp>
      <p:sp>
        <p:nvSpPr>
          <p:cNvPr id="15" name="Text 13"/>
          <p:cNvSpPr/>
          <p:nvPr/>
        </p:nvSpPr>
        <p:spPr>
          <a:xfrm>
            <a:off x="6492240" y="2697480"/>
            <a:ext cx="4617720" cy="54864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Southwest Airlines</a:t>
            </a:r>
            <a:endParaRPr lang="en-US" sz="2200" dirty="0"/>
          </a:p>
        </p:txBody>
      </p:sp>
      <p:sp>
        <p:nvSpPr>
          <p:cNvPr id="16" name="Text 14"/>
          <p:cNvSpPr/>
          <p:nvPr/>
        </p:nvSpPr>
        <p:spPr>
          <a:xfrm>
            <a:off x="6492240" y="3291840"/>
            <a:ext cx="4617720" cy="73152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11.7%</a:t>
            </a:r>
            <a:endParaRPr lang="en-US" sz="3800" dirty="0"/>
          </a:p>
        </p:txBody>
      </p:sp>
      <p:sp>
        <p:nvSpPr>
          <p:cNvPr id="17" name="Text 15"/>
          <p:cNvSpPr/>
          <p:nvPr/>
        </p:nvSpPr>
        <p:spPr>
          <a:xfrm>
            <a:off x="6492240" y="4041648"/>
            <a:ext cx="4617720" cy="457200"/>
          </a:xfrm>
          <a:prstGeom prst="rect">
            <a:avLst/>
          </a:prstGeom>
          <a:noFill/>
          <a:ln/>
        </p:spPr>
        <p:txBody>
          <a:bodyPr wrap="square" rtlCol="0" anchor="t"/>
          <a:lstStyle/>
          <a:p>
            <a:pPr indent="0" marL="0">
              <a:buNone/>
            </a:pPr>
            <a:r>
              <a:rPr lang="en-US" sz="1350" dirty="0">
                <a:solidFill>
                  <a:srgbClr val="9AA7D4"/>
                </a:solidFill>
                <a:latin typeface="Calibri" pitchFamily="34" charset="0"/>
                <a:ea typeface="Calibri" pitchFamily="34" charset="-122"/>
                <a:cs typeface="Calibri" pitchFamily="34" charset="-120"/>
              </a:rPr>
              <a:t>operating margin · best in class</a:t>
            </a:r>
            <a:endParaRPr lang="en-US" sz="1350" dirty="0"/>
          </a:p>
        </p:txBody>
      </p:sp>
      <p:sp>
        <p:nvSpPr>
          <p:cNvPr id="24" name="Shape 22"/>
          <p:cNvSpPr/>
          <p:nvPr/>
        </p:nvSpPr>
        <p:spPr>
          <a:xfrm>
            <a:off x="822960" y="5760720"/>
            <a:ext cx="10561320" cy="18288"/>
          </a:xfrm>
          <a:prstGeom prst="rect">
            <a:avLst/>
          </a:prstGeom>
          <a:solidFill>
            <a:srgbClr val="3E4A7E"/>
          </a:solidFill>
          <a:ln/>
        </p:spPr>
      </p:sp>
      <p:sp>
        <p:nvSpPr>
          <p:cNvPr id="25" name="Text 23"/>
          <p:cNvSpPr/>
          <p:nvPr/>
        </p:nvSpPr>
        <p:spPr>
          <a:xfrm>
            <a:off x="822960" y="5943600"/>
            <a:ext cx="10561320" cy="59436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Hold Delta for scale, Southwest for margin — and watch Alaska quietly outgrow them all.</a:t>
            </a:r>
            <a:endParaRPr lang="en-US" sz="1800" dirty="0"/>
          </a:p>
        </p:txBody>
      </p:sp>
      <p:sp>
        <p:nvSpPr>
          <p:cNvPr id="30" name="Alaska BG"/>
          <p:cNvSpPr/>
          <p:nvPr/>
        </p:nvSpPr>
        <p:spPr>
          <a:xfrm>
            <a:off x="822960" y="4525920"/>
            <a:ext cx="10561320" cy="960120"/>
          </a:xfrm>
          <a:prstGeom prst="rect">
            <a:avLst/>
          </a:prstGeom>
          <a:solidFill>
            <a:srgbClr val="27306B"/>
          </a:solidFill>
          <a:ln/>
        </p:spPr>
      </p:sp>
      <p:sp>
        <p:nvSpPr>
          <p:cNvPr id="31" name="Alaska Bar"/>
          <p:cNvSpPr/>
          <p:nvPr/>
        </p:nvSpPr>
        <p:spPr>
          <a:xfrm>
            <a:off x="822960" y="4525920"/>
            <a:ext cx="73152" cy="960120"/>
          </a:xfrm>
          <a:prstGeom prst="rect">
            <a:avLst/>
          </a:prstGeom>
          <a:solidFill>
            <a:srgbClr val="D98E04"/>
          </a:solidFill>
          <a:ln/>
        </p:spPr>
      </p:sp>
      <p:sp>
        <p:nvSpPr>
          <p:cNvPr id="32" name="Alaska Label"/>
          <p:cNvSpPr/>
          <p:nvPr/>
        </p:nvSpPr>
        <p:spPr>
          <a:xfrm>
            <a:off x="1097280" y="4525920"/>
            <a:ext cx="2286000" cy="960120"/>
          </a:xfrm>
          <a:prstGeom prst="rect">
            <a:avLst/>
          </a:prstGeom>
          <a:noFill/>
          <a:ln/>
        </p:spPr>
        <p:txBody>
          <a:bodyPr wrap="square" rtlCol="0" anchor="ctr"/>
          <a:lstStyle/>
          <a:p>
            <a:pPr indent="0" marL="0">
              <a:buNone/>
            </a:pPr>
            <a:r>
              <a:rPr lang="en-US" sz="1200" b="1" spc="90" kern="0" dirty="0">
                <a:solidFill>
                  <a:srgbClr val="D98E04"/>
                </a:solidFill>
                <a:latin typeface="Calibri" pitchFamily="34" charset="0"/>
              </a:rPr>
              <a:t>THE SURPRISING FIND</a:t>
            </a:r>
          </a:p>
        </p:txBody>
      </p:sp>
      <p:sp>
        <p:nvSpPr>
          <p:cNvPr id="33" name="Alaska Name"/>
          <p:cNvSpPr/>
          <p:nvPr/>
        </p:nvSpPr>
        <p:spPr>
          <a:xfrm>
            <a:off x="3474720" y="4525920"/>
            <a:ext cx="2743200" cy="960120"/>
          </a:xfrm>
          <a:prstGeom prst="rect">
            <a:avLst/>
          </a:prstGeom>
          <a:noFill/>
          <a:ln/>
        </p:spPr>
        <p:txBody>
          <a:bodyPr wrap="square" rtlCol="0" anchor="ctr"/>
          <a:lstStyle/>
          <a:p>
            <a:pPr indent="0" marL="0">
              <a:buNone/>
            </a:pPr>
            <a:r>
              <a:rPr lang="en-US" sz="2200" b="1" dirty="0">
                <a:solidFill>
                  <a:srgbClr val="FFFFFF"/>
                </a:solidFill>
                <a:latin typeface="Cambria" pitchFamily="34" charset="0"/>
              </a:rPr>
              <a:t>Alaska Airlines</a:t>
            </a:r>
          </a:p>
        </p:txBody>
      </p:sp>
      <p:sp>
        <p:nvSpPr>
          <p:cNvPr id="34" name="Alaska Stats"/>
          <p:cNvSpPr/>
          <p:nvPr/>
        </p:nvSpPr>
        <p:spPr>
          <a:xfrm>
            <a:off x="6400800" y="4525920"/>
            <a:ext cx="4983480" cy="960120"/>
          </a:xfrm>
          <a:prstGeom prst="rect">
            <a:avLst/>
          </a:prstGeom>
          <a:noFill/>
          <a:ln/>
        </p:spPr>
        <p:txBody>
          <a:bodyPr wrap="square" rtlCol="0" anchor="ctr"/>
          <a:lstStyle/>
          <a:p>
            <a:pPr indent="0" marL="0">
              <a:buNone/>
            </a:pPr>
            <a:r>
              <a:rPr lang="en-US" sz="1350" dirty="0">
                <a:solidFill>
                  <a:srgbClr val="9AA7D4"/>
                </a:solidFill>
                <a:latin typeface="Calibri" pitchFamily="34" charset="0"/>
              </a:rPr>
              <a:t>Smallest carrier · 7.6% CAGR (fastest) · 8.3% margin · quietly outgrowing the majors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138160" y="-2194560"/>
            <a:ext cx="7498080" cy="7498080"/>
          </a:xfrm>
          <a:prstGeom prst="ellipse">
            <a:avLst/>
          </a:prstGeom>
          <a:solidFill>
            <a:srgbClr val="141B45"/>
          </a:solidFill>
          <a:ln/>
        </p:spPr>
      </p:sp>
      <p:sp>
        <p:nvSpPr>
          <p:cNvPr id="3" name="Shape 1"/>
          <p:cNvSpPr/>
          <p:nvPr/>
        </p:nvSpPr>
        <p:spPr>
          <a:xfrm>
            <a:off x="1371600" y="2788920"/>
            <a:ext cx="100584" cy="1371600"/>
          </a:xfrm>
          <a:prstGeom prst="rect">
            <a:avLst/>
          </a:prstGeom>
          <a:solidFill>
            <a:srgbClr val="D98E04"/>
          </a:solidFill>
          <a:ln/>
        </p:spPr>
      </p:sp>
      <p:sp>
        <p:nvSpPr>
          <p:cNvPr id="4" name="Text 2"/>
          <p:cNvSpPr/>
          <p:nvPr/>
        </p:nvSpPr>
        <p:spPr>
          <a:xfrm>
            <a:off x="1737360" y="2743200"/>
            <a:ext cx="7315200" cy="91440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Questions</a:t>
            </a:r>
            <a:endParaRPr lang="en-US" sz="4600" dirty="0"/>
          </a:p>
        </p:txBody>
      </p:sp>
      <p:sp>
        <p:nvSpPr>
          <p:cNvPr id="5" name="Text 3"/>
          <p:cNvSpPr/>
          <p:nvPr/>
        </p:nvSpPr>
        <p:spPr>
          <a:xfrm>
            <a:off x="1737360" y="3703320"/>
            <a:ext cx="8046720" cy="502920"/>
          </a:xfrm>
          <a:prstGeom prst="rect">
            <a:avLst/>
          </a:prstGeom>
          <a:noFill/>
          <a:ln/>
        </p:spPr>
        <p:txBody>
          <a:bodyPr wrap="square" rtlCol="0" anchor="ctr"/>
          <a:lstStyle/>
          <a:p>
            <a:pPr indent="0" marL="0">
              <a:buNone/>
            </a:pPr>
            <a:r>
              <a:rPr lang="en-US" sz="1900" dirty="0">
                <a:solidFill>
                  <a:srgbClr val="CADCFC"/>
                </a:solidFill>
                <a:latin typeface="Calibri" pitchFamily="34" charset="0"/>
                <a:ea typeface="Calibri" pitchFamily="34" charset="-122"/>
                <a:cs typeface="Calibri" pitchFamily="34" charset="-120"/>
              </a:rPr>
              <a:t>Thank you — happy investing!</a:t>
            </a:r>
            <a:endParaRPr lang="en-US" sz="1900" dirty="0"/>
          </a:p>
        </p:txBody>
      </p:sp>
      <p:sp>
        <p:nvSpPr>
          <p:cNvPr id="6" name="Shape 4"/>
          <p:cNvSpPr/>
          <p:nvPr/>
        </p:nvSpPr>
        <p:spPr>
          <a:xfrm>
            <a:off x="9784080" y="2606040"/>
            <a:ext cx="1371600" cy="1371600"/>
          </a:xfrm>
          <a:prstGeom prst="ellipse">
            <a:avLst/>
          </a:prstGeom>
          <a:solidFill>
            <a:srgbClr val="D98E04"/>
          </a:solidFill>
          <a:ln/>
        </p:spPr>
      </p:sp>
      <p:sp>
        <p:nvSpPr>
          <p:cNvPr id="7" name="Text 5"/>
          <p:cNvSpPr/>
          <p:nvPr/>
        </p:nvSpPr>
        <p:spPr>
          <a:xfrm>
            <a:off x="9784080" y="2606040"/>
            <a:ext cx="1371600" cy="1371600"/>
          </a:xfrm>
          <a:prstGeom prst="rect">
            <a:avLst/>
          </a:prstGeom>
          <a:noFill/>
          <a:ln/>
        </p:spPr>
        <p:txBody>
          <a:bodyPr wrap="square" rtlCol="0" anchor="ctr"/>
          <a:lstStyle/>
          <a:p>
            <a:pPr algn="ctr" indent="0" marL="0">
              <a:buNone/>
            </a:pPr>
            <a:r>
              <a:rPr lang="en-US" sz="5200" b="1" dirty="0">
                <a:solidFill>
                  <a:srgbClr val="1E2761"/>
                </a:solidFill>
                <a:latin typeface="Cambria" pitchFamily="34" charset="0"/>
                <a:ea typeface="Cambria" pitchFamily="34" charset="-122"/>
                <a:cs typeface="Cambria" pitchFamily="34" charset="-120"/>
              </a:rPr>
              <a:t>?</a:t>
            </a:r>
            <a:endParaRPr lang="en-US" sz="5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1E2761"/>
          </a:solidFill>
          <a:ln/>
        </p:spPr>
      </p:sp>
      <p:sp>
        <p:nvSpPr>
          <p:cNvPr id="3" name="Shape 1"/>
          <p:cNvSpPr/>
          <p:nvPr/>
        </p:nvSpPr>
        <p:spPr>
          <a:xfrm>
            <a:off x="0" y="914400"/>
            <a:ext cx="12188952" cy="50292"/>
          </a:xfrm>
          <a:prstGeom prst="rect">
            <a:avLst/>
          </a:prstGeom>
          <a:solidFill>
            <a:srgbClr val="D98E04"/>
          </a:solidFill>
          <a:ln/>
        </p:spPr>
      </p:sp>
      <p:sp>
        <p:nvSpPr>
          <p:cNvPr id="4" name="Text 2"/>
          <p:cNvSpPr/>
          <p:nvPr/>
        </p:nvSpPr>
        <p:spPr>
          <a:xfrm>
            <a:off x="502920" y="146304"/>
            <a:ext cx="731520" cy="621792"/>
          </a:xfrm>
          <a:prstGeom prst="rect">
            <a:avLst/>
          </a:prstGeom>
          <a:noFill/>
          <a:ln/>
        </p:spPr>
        <p:txBody>
          <a:bodyPr wrap="square" rtlCol="0" anchor="ctr"/>
          <a:lstStyle/>
          <a:p>
            <a:pPr indent="0" marL="0">
              <a:buNone/>
            </a:pPr>
            <a:r>
              <a:rPr lang="en-US" sz="2700" b="1" dirty="0">
                <a:solidFill>
                  <a:srgbClr val="D98E04"/>
                </a:solidFill>
                <a:latin typeface="Cambria" pitchFamily="34" charset="0"/>
                <a:ea typeface="Cambria" pitchFamily="34" charset="-122"/>
                <a:cs typeface="Cambria" pitchFamily="34" charset="-120"/>
              </a:rPr>
              <a:t>+</a:t>
            </a:r>
            <a:endParaRPr lang="en-US" sz="2700" dirty="0"/>
          </a:p>
        </p:txBody>
      </p:sp>
      <p:sp>
        <p:nvSpPr>
          <p:cNvPr id="5" name="Text 3"/>
          <p:cNvSpPr/>
          <p:nvPr/>
        </p:nvSpPr>
        <p:spPr>
          <a:xfrm>
            <a:off x="1325880" y="146304"/>
            <a:ext cx="10332720" cy="621792"/>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Added Bonus — Revenue Growth Rates, 2015–2025</a:t>
            </a:r>
            <a:endParaRPr lang="en-US" sz="1900" dirty="0"/>
          </a:p>
        </p:txBody>
      </p:sp>
      <p:pic>
        <p:nvPicPr>
          <p:cNvPr id="17" name="Chart Image"/>
          <p:cNvPicPr>
            <a:picLocks noChangeAspect="1"/>
          </p:cNvPicPr>
          <p:nvPr/>
        </p:nvPicPr>
        <p:blipFill>
          <a:blip r:embed="rId3"/>
          <a:stretch>
            <a:fillRect/>
          </a:stretch>
        </p:blipFill>
        <p:spPr>
          <a:xfrm>
            <a:off x="502920" y="1280160"/>
            <a:ext cx="11155680" cy="4343280"/>
          </a:xfrm>
          <a:prstGeom prst="rect">
            <a:avLst/>
          </a:prstGeom>
        </p:spPr>
      </p:pic>
      <p:sp>
        <p:nvSpPr>
          <p:cNvPr id="13" name="Shape 10"/>
          <p:cNvSpPr/>
          <p:nvPr/>
        </p:nvSpPr>
        <p:spPr>
          <a:xfrm>
            <a:off x="0" y="5806440"/>
            <a:ext cx="12188952" cy="1051560"/>
          </a:xfrm>
          <a:prstGeom prst="rect">
            <a:avLst/>
          </a:prstGeom>
          <a:solidFill>
            <a:srgbClr val="F7F9FC"/>
          </a:solidFill>
          <a:ln/>
        </p:spPr>
      </p:sp>
      <p:sp>
        <p:nvSpPr>
          <p:cNvPr id="14" name="Shape 11"/>
          <p:cNvSpPr/>
          <p:nvPr/>
        </p:nvSpPr>
        <p:spPr>
          <a:xfrm>
            <a:off x="0" y="5806440"/>
            <a:ext cx="146304" cy="1051560"/>
          </a:xfrm>
          <a:prstGeom prst="rect">
            <a:avLst/>
          </a:prstGeom>
          <a:solidFill>
            <a:srgbClr val="D98E04"/>
          </a:solidFill>
          <a:ln/>
        </p:spPr>
      </p:sp>
      <p:sp>
        <p:nvSpPr>
          <p:cNvPr id="15" name="Text 12"/>
          <p:cNvSpPr/>
          <p:nvPr/>
        </p:nvSpPr>
        <p:spPr>
          <a:xfrm>
            <a:off x="502920" y="5897880"/>
            <a:ext cx="2194560" cy="292608"/>
          </a:xfrm>
          <a:prstGeom prst="rect">
            <a:avLst/>
          </a:prstGeom>
          <a:noFill/>
          <a:ln/>
        </p:spPr>
        <p:txBody>
          <a:bodyPr wrap="square" rtlCol="0" anchor="ctr"/>
          <a:lstStyle/>
          <a:p>
            <a:pPr indent="0" marL="0">
              <a:buNone/>
            </a:pPr>
            <a:r>
              <a:rPr lang="en-US" sz="1250" b="1" spc="80" kern="0" dirty="0">
                <a:solidFill>
                  <a:srgbClr val="D98E04"/>
                </a:solidFill>
                <a:latin typeface="Calibri" pitchFamily="34" charset="0"/>
                <a:ea typeface="Calibri" pitchFamily="34" charset="-122"/>
                <a:cs typeface="Calibri" pitchFamily="34" charset="-120"/>
              </a:rPr>
              <a:t>TAKEAWAY</a:t>
            </a:r>
            <a:endParaRPr lang="en-US" sz="1250" dirty="0"/>
          </a:p>
        </p:txBody>
      </p:sp>
      <p:sp>
        <p:nvSpPr>
          <p:cNvPr id="16" name="Text 13"/>
          <p:cNvSpPr/>
          <p:nvPr/>
        </p:nvSpPr>
        <p:spPr>
          <a:xfrm>
            <a:off x="502920" y="6199632"/>
            <a:ext cx="11155680" cy="502920"/>
          </a:xfrm>
          <a:prstGeom prst="rect">
            <a:avLst/>
          </a:prstGeom>
          <a:noFill/>
          <a:ln/>
        </p:spPr>
        <p:txBody>
          <a:bodyPr wrap="square" rtlCol="0" anchor="ctr"/>
          <a:lstStyle/>
          <a:p>
            <a:pPr indent="0" marL="0">
              <a:buNone/>
            </a:pPr>
            <a:r>
              <a:rPr lang="en-US" sz="1750" dirty="0">
                <a:solidFill>
                  <a:srgbClr val="1E2761"/>
                </a:solidFill>
                <a:latin typeface="Calibri" pitchFamily="34" charset="0"/>
                <a:ea typeface="Calibri" pitchFamily="34" charset="-122"/>
                <a:cs typeface="Calibri" pitchFamily="34" charset="-120"/>
              </a:rPr>
              <a:t>Alaska grew fastest at 7.6% CAGR — doubling revenue since 2015 while larger carriers grew 30–55%. Smallest airline, highest growth rate.</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2026-07-23T10:30:28Z</dcterms:created>
  <dcterms:modified xsi:type="dcterms:W3CDTF">2026-07-23T10:30:28Z</dcterms:modified>
</cp:coreProperties>
</file>